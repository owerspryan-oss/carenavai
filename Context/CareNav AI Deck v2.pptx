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04"/>
    <p:restoredTop sz="94610"/>
  </p:normalViewPr>
  <p:slideViewPr>
    <p:cSldViewPr snapToGrid="0" snapToObjects="1">
      <p:cViewPr varScale="1">
        <p:scale>
          <a:sx n="146" d="100"/>
          <a:sy n="146" d="100"/>
        </p:scale>
        <p:origin x="65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712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seconds. Introduce the team and product name. Keep it short; the story starts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Marcia is a fictional composite of the diaspora persona in the business analysis, and she is the person in the demo. Tell her story as a real moment: judges remember people, not features.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These are the core pain points from the business analysis (section 3.1). One short line each. A fifth, no continuity between appointments, is what the later symptom timeline addresses.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seconds. 1 million+ is 880,000 people who can’t speak English well plus 161,000 who can’t speak it at all. The 42% rises to 61% when numeracy is also needed. These figures show the scale of the problem, not that CareNav will fix it; the pilot is designed to test that.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One sentence on what it is, then the three things it does. Stress that it never diagnoses, triages or recommends treatment.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seconds. Walk through the four steps quickly; the demo shows them for real. An urgent result shows the static urgent message first; the user taps “I understand” and continues with an urgent banner on the result and the PDF (decision A2). A setting can lock the journey instead.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to 3 minutes. Play the recorded demo (fictional people and a fictional letter, no real health data). The DRAFT safety label is switched off for the recording, so say out loud that the safety content is not yet clinically approved. Keep the backup file ready.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Epics 1 and 2 are the two user journeys; epics 3 to 5 are shared capabilities that serve both. Every functional and non-functional requirement maps to an epic. The appendix has one slide per epic with user stories for Q&amp;A and the use-case discussion.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seconds. Answer the judges’ biggest worry before they ask it. The safety content is a draft and not yet clinically approved; a clinical adviser signs it off before any participant uses the tool.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Targets are proposals, to be agreed with pilot partners. The pilot runs for 8 weeks with 30 to 50 participants recruited through community partners, on a £50 AI budget with a hard spend cap.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seconds. Optional. Add or remove cards to match your team size; swap the icons for photos if you have them.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seconds. Return to Marcia, make the ask, then open for questions. Prepare answers for: What if the AI gets it wrong? How is this different from 111 online? How would you test it with real patients? Use the appendix epic slides for detail.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Use these slides in Q&amp;A or the use-case discussion.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Use-case discussion: walk through Marcia’s journey from step 1 to the PDF. Ask which acceptance criteria prove each story works, for example AC-01.2: the summary adds no condition, cause or treatment the user did not state.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Use-case discussion: follow the photographed letter from capture to PDF. Key test: AC-02.1, every next step and medicine field carries a quote that exists in the confirmed text; anything without one moves to “We could not find this in your text”.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Use-case discussion: compare a Tier A language (Pidgin, dialect output on) with a Tier B language (double-check notice, stricter safety gate). Eight Tier A targets need native-speaker sign-off by 26 October.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Use-case discussion: the acknowledge-and-continue decision (A2), including self-harm wording, still needs the clinical adviser to confirm it before the pilot. The urgency test set must show no missed must-route-up case.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Use-case discussion: the AI provider data terms (open item 3) have no owner yet and block the pilot’s data protection impact assessment. Accounts and saved history are the 3rd feature cut.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417320"/>
            <a:ext cx="8046720" cy="100584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548640" y="2468880"/>
            <a:ext cx="7498080" cy="822960"/>
          </a:xfrm>
          <a:prstGeom prst="rect">
            <a:avLst/>
          </a:prstGeom>
          <a:noFill/>
          <a:ln/>
        </p:spPr>
        <p:txBody>
          <a:bodyPr wrap="square" rtlCol="0"/>
          <a:lstStyle>
            <a:lvl1pPr marL="0" indent="0">
              <a:buNone/>
              <a:defRPr lang="en-US" sz="1800" dirty="0">
                <a:solidFill>
                  <a:schemeClr val="bg1"/>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Blue">
    <p:bg>
      <p:bgPr>
        <a:solidFill>
          <a:schemeClr val="accent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046720" cy="73152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1"/>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1"/>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1"/>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2.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13.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4.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417320"/>
            <a:ext cx="8046720" cy="1005840"/>
          </a:xfrm>
          <a:prstGeom prst="rect">
            <a:avLst/>
          </a:prstGeom>
          <a:noFill/>
          <a:ln/>
        </p:spPr>
        <p:txBody>
          <a:bodyPr wrap="square" lIns="0" tIns="0" rIns="0" bIns="0" rtlCol="0" anchor="ctr"/>
          <a:lstStyle/>
          <a:p>
            <a:pPr marL="0" indent="0" algn="l">
              <a:buNone/>
            </a:pPr>
            <a:r>
              <a:rPr lang="en-US" dirty="0" err="1"/>
              <a:t>CareNav</a:t>
            </a:r>
            <a:r>
              <a:rPr lang="en-US" dirty="0"/>
              <a:t> AI</a:t>
            </a:r>
            <a:endParaRPr lang="en-US" sz="4400" dirty="0"/>
          </a:p>
        </p:txBody>
      </p:sp>
      <p:sp>
        <p:nvSpPr>
          <p:cNvPr id="3" name="Text 0"/>
          <p:cNvSpPr>
            <a:spLocks noGrp="1"/>
          </p:cNvSpPr>
          <p:nvPr>
            <p:ph type="body" idx="101" hasCustomPrompt="1"/>
          </p:nvPr>
        </p:nvSpPr>
        <p:spPr>
          <a:xfrm>
            <a:off x="548640" y="2468880"/>
            <a:ext cx="7498080" cy="822960"/>
          </a:xfrm>
          <a:prstGeom prst="rect">
            <a:avLst/>
          </a:prstGeom>
          <a:noFill/>
          <a:ln/>
        </p:spPr>
        <p:txBody>
          <a:bodyPr wrap="square" lIns="0" tIns="0" rIns="0" bIns="0" rtlCol="0" anchor="t"/>
          <a:lstStyle/>
          <a:p>
            <a:pPr marL="0" indent="0">
              <a:buNone/>
            </a:pPr>
            <a:r>
              <a:rPr lang="en-US" sz="1800" dirty="0">
                <a:solidFill>
                  <a:schemeClr val="bg1"/>
                </a:solidFill>
              </a:rPr>
              <a:t>Helping people prepare for NHS appointments and understand what they were told, in their own words and language</a:t>
            </a:r>
            <a:endParaRPr lang="en-US" sz="1800" dirty="0"/>
          </a:p>
        </p:txBody>
      </p:sp>
      <p:sp>
        <p:nvSpPr>
          <p:cNvPr id="4" name="Text 2"/>
          <p:cNvSpPr txBox="1"/>
          <p:nvPr/>
        </p:nvSpPr>
        <p:spPr>
          <a:xfrm>
            <a:off x="548640" y="4206240"/>
            <a:ext cx="8046720" cy="365760"/>
          </a:xfrm>
          <a:prstGeom prst="rect">
            <a:avLst/>
          </a:prstGeom>
          <a:noFill/>
          <a:ln/>
        </p:spPr>
        <p:txBody>
          <a:bodyPr wrap="square" lIns="0" tIns="0" rIns="0" bIns="0" rtlCol="0" anchor="ctr"/>
          <a:lstStyle/>
          <a:p>
            <a:pPr marL="0" indent="0">
              <a:buNone/>
            </a:pPr>
            <a:r>
              <a:rPr lang="en-US" sz="1400" dirty="0">
                <a:solidFill>
                  <a:schemeClr val="accent3"/>
                </a:solidFill>
                <a:latin typeface="Arial" pitchFamily="34" charset="0"/>
                <a:ea typeface="Arial" pitchFamily="34" charset="-122"/>
                <a:cs typeface="Arial" pitchFamily="34" charset="-120"/>
              </a:rPr>
              <a:t>Ryan </a:t>
            </a:r>
            <a:r>
              <a:rPr lang="en-US" sz="1400" dirty="0" err="1">
                <a:solidFill>
                  <a:schemeClr val="accent3"/>
                </a:solidFill>
                <a:latin typeface="Arial" pitchFamily="34" charset="0"/>
                <a:ea typeface="Arial" pitchFamily="34" charset="-122"/>
                <a:cs typeface="Arial" pitchFamily="34" charset="-120"/>
              </a:rPr>
              <a:t>Owers</a:t>
            </a:r>
            <a:r>
              <a:rPr lang="en-US" sz="1400" dirty="0">
                <a:solidFill>
                  <a:schemeClr val="accent3"/>
                </a:solidFill>
                <a:latin typeface="Arial" pitchFamily="34" charset="0"/>
                <a:ea typeface="Arial" pitchFamily="34" charset="-122"/>
                <a:cs typeface="Arial" pitchFamily="34" charset="-120"/>
              </a:rPr>
              <a:t> x Tymon Gyau  ·  [Hackathon name]  ·  28th October</a:t>
            </a:r>
            <a:endParaRPr lang="en-US" sz="1400" dirty="0"/>
          </a:p>
        </p:txBody>
      </p:sp>
      <p:pic>
        <p:nvPicPr>
          <p:cNvPr id="5" name="Title icon" descr="preencoded.png"/>
          <p:cNvPicPr>
            <a:picLocks noChangeAspect="1"/>
          </p:cNvPicPr>
          <p:nvPr/>
        </p:nvPicPr>
        <p:blipFill>
          <a:blip r:embed="rId3"/>
          <a:stretch>
            <a:fillRect/>
          </a:stretch>
        </p:blipFill>
        <p:spPr>
          <a:xfrm>
            <a:off x="548640" y="640080"/>
            <a:ext cx="548640"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rPr>
              <a:t>Meet Marcia</a:t>
            </a:r>
            <a:endParaRPr lang="en-US" sz="3200" dirty="0"/>
          </a:p>
        </p:txBody>
      </p:sp>
      <p:sp>
        <p:nvSpPr>
          <p:cNvPr id="3" name="Persona card"/>
          <p:cNvSpPr/>
          <p:nvPr/>
        </p:nvSpPr>
        <p:spPr>
          <a:xfrm>
            <a:off x="457200" y="1234440"/>
            <a:ext cx="2926080" cy="3383280"/>
          </a:xfrm>
          <a:prstGeom prst="roundRect">
            <a:avLst>
              <a:gd name="adj" fmla="val 3750"/>
            </a:avLst>
          </a:prstGeom>
          <a:solidFill>
            <a:schemeClr val="bg2"/>
          </a:solidFill>
          <a:ln/>
        </p:spPr>
        <p:txBody>
          <a:bodyPr/>
          <a:lstStyle/>
          <a:p>
            <a:endParaRPr lang="en-US"/>
          </a:p>
        </p:txBody>
      </p:sp>
      <p:pic>
        <p:nvPicPr>
          <p:cNvPr id="5" name="Marcia photo" descr="Marcia, AI-generated portrait of a fictional persona"/>
          <p:cNvPicPr>
            <a:picLocks noChangeAspect="1"/>
          </p:cNvPicPr>
          <p:nvPr/>
        </p:nvPicPr>
        <p:blipFill>
          <a:blip r:embed="rId3"/>
          <a:stretch>
            <a:fillRect/>
          </a:stretch>
        </p:blipFill>
        <p:spPr>
          <a:xfrm>
            <a:off x="1280160" y="1417320"/>
            <a:ext cx="1280160" cy="1280160"/>
          </a:xfrm>
          <a:prstGeom prst="rect">
            <a:avLst/>
          </a:prstGeom>
        </p:spPr>
      </p:pic>
      <p:sp>
        <p:nvSpPr>
          <p:cNvPr id="6" name="Text 3"/>
          <p:cNvSpPr txBox="1"/>
          <p:nvPr/>
        </p:nvSpPr>
        <p:spPr>
          <a:xfrm>
            <a:off x="640080" y="2834640"/>
            <a:ext cx="2560320" cy="365760"/>
          </a:xfrm>
          <a:prstGeom prst="rect">
            <a:avLst/>
          </a:prstGeom>
          <a:noFill/>
          <a:ln/>
        </p:spPr>
        <p:txBody>
          <a:bodyPr wrap="square" lIns="0" tIns="0" rIns="0" bIns="0" rtlCol="0" anchor="ctr"/>
          <a:lstStyle/>
          <a:p>
            <a:pPr marL="0" indent="0" algn="ctr">
              <a:buNone/>
            </a:pPr>
            <a:r>
              <a:rPr lang="en-US" sz="1800" b="1" dirty="0">
                <a:solidFill>
                  <a:schemeClr val="tx2"/>
                </a:solidFill>
                <a:latin typeface="Arial" pitchFamily="34" charset="0"/>
                <a:ea typeface="Arial" pitchFamily="34" charset="-122"/>
                <a:cs typeface="Arial" pitchFamily="34" charset="-120"/>
              </a:rPr>
              <a:t>Marcia, 58</a:t>
            </a:r>
            <a:endParaRPr lang="en-US" sz="1800" dirty="0"/>
          </a:p>
        </p:txBody>
      </p:sp>
      <p:sp>
        <p:nvSpPr>
          <p:cNvPr id="7" name="Text 4"/>
          <p:cNvSpPr txBox="1"/>
          <p:nvPr/>
        </p:nvSpPr>
        <p:spPr>
          <a:xfrm>
            <a:off x="640080" y="3246120"/>
            <a:ext cx="2560320" cy="1097280"/>
          </a:xfrm>
          <a:prstGeom prst="rect">
            <a:avLst/>
          </a:prstGeom>
          <a:noFill/>
          <a:ln/>
        </p:spPr>
        <p:txBody>
          <a:bodyPr wrap="square" lIns="0" tIns="0" rIns="0" bIns="0" rtlCol="0" anchor="ctr"/>
          <a:lstStyle/>
          <a:p>
            <a:pPr marL="0" indent="0" algn="ctr">
              <a:buNone/>
            </a:pPr>
            <a:r>
              <a:rPr lang="en-US" sz="1400" dirty="0">
                <a:solidFill>
                  <a:schemeClr val="tx1"/>
                </a:solidFill>
                <a:latin typeface="Arial" pitchFamily="34" charset="0"/>
                <a:ea typeface="Arial" pitchFamily="34" charset="-122"/>
                <a:cs typeface="Arial" pitchFamily="34" charset="-120"/>
              </a:rPr>
              <a:t>Born in Jamaica</a:t>
            </a:r>
            <a:endParaRPr lang="en-US" sz="1400" dirty="0"/>
          </a:p>
          <a:p>
            <a:pPr marL="0" indent="0" algn="ctr">
              <a:buNone/>
            </a:pPr>
            <a:r>
              <a:rPr lang="en-US" sz="1400" dirty="0">
                <a:solidFill>
                  <a:schemeClr val="tx1"/>
                </a:solidFill>
                <a:latin typeface="Arial" pitchFamily="34" charset="0"/>
                <a:ea typeface="Arial" pitchFamily="34" charset="-122"/>
                <a:cs typeface="Arial" pitchFamily="34" charset="-120"/>
              </a:rPr>
              <a:t>In the UK for over 30 years</a:t>
            </a:r>
            <a:endParaRPr lang="en-US" sz="1400" dirty="0"/>
          </a:p>
          <a:p>
            <a:pPr marL="0" indent="0" algn="ctr">
              <a:buNone/>
            </a:pPr>
            <a:r>
              <a:rPr lang="en-US" sz="1400" dirty="0">
                <a:solidFill>
                  <a:schemeClr val="tx1"/>
                </a:solidFill>
                <a:latin typeface="Arial" pitchFamily="34" charset="0"/>
                <a:ea typeface="Arial" pitchFamily="34" charset="-122"/>
                <a:cs typeface="Arial" pitchFamily="34" charset="-120"/>
              </a:rPr>
              <a:t>Jamaican Patois and English</a:t>
            </a:r>
            <a:endParaRPr lang="en-US" sz="1400" dirty="0"/>
          </a:p>
        </p:txBody>
      </p:sp>
      <p:sp>
        <p:nvSpPr>
          <p:cNvPr id="8" name="Text 5"/>
          <p:cNvSpPr txBox="1"/>
          <p:nvPr/>
        </p:nvSpPr>
        <p:spPr>
          <a:xfrm>
            <a:off x="3749040" y="1234440"/>
            <a:ext cx="4937760" cy="365760"/>
          </a:xfrm>
          <a:prstGeom prst="rect">
            <a:avLst/>
          </a:prstGeom>
          <a:noFill/>
          <a:ln/>
        </p:spPr>
        <p:txBody>
          <a:bodyPr wrap="square" lIns="0" tIns="0" rIns="0" bIns="0" rtlCol="0" anchor="ctr"/>
          <a:lstStyle/>
          <a:p>
            <a:pPr marL="0" indent="0">
              <a:buNone/>
            </a:pPr>
            <a:r>
              <a:rPr lang="en-US" sz="2000" b="1" dirty="0">
                <a:solidFill>
                  <a:schemeClr val="accent1"/>
                </a:solidFill>
                <a:latin typeface="Arial" pitchFamily="34" charset="0"/>
                <a:ea typeface="Arial" pitchFamily="34" charset="-122"/>
                <a:cs typeface="Arial" pitchFamily="34" charset="-120"/>
              </a:rPr>
              <a:t>The moment</a:t>
            </a:r>
            <a:endParaRPr lang="en-US" sz="2000" dirty="0"/>
          </a:p>
        </p:txBody>
      </p:sp>
      <p:sp>
        <p:nvSpPr>
          <p:cNvPr id="9" name="Text 6"/>
          <p:cNvSpPr txBox="1"/>
          <p:nvPr/>
        </p:nvSpPr>
        <p:spPr>
          <a:xfrm>
            <a:off x="3749040" y="1645920"/>
            <a:ext cx="4937760" cy="1280160"/>
          </a:xfrm>
          <a:prstGeom prst="rect">
            <a:avLst/>
          </a:prstGeom>
          <a:noFill/>
          <a:ln/>
        </p:spPr>
        <p:txBody>
          <a:bodyPr wrap="square" lIns="0" tIns="0" rIns="0" bIns="0" rtlCol="0" anchor="ctr"/>
          <a:lstStyle/>
          <a:p>
            <a:pPr marL="0" indent="0">
              <a:buNone/>
            </a:pPr>
            <a:r>
              <a:rPr lang="en-US" sz="1600" dirty="0">
                <a:solidFill>
                  <a:schemeClr val="tx1"/>
                </a:solidFill>
                <a:latin typeface="Arial" pitchFamily="34" charset="0"/>
                <a:ea typeface="Arial" pitchFamily="34" charset="-122"/>
                <a:cs typeface="Arial" pitchFamily="34" charset="-120"/>
              </a:rPr>
              <a:t>Marcia has a GP appointment on Thursday about pains that keep coming back. When she explains, the words come out in Patois, and last time she left without asking what she came to ask.</a:t>
            </a:r>
            <a:endParaRPr lang="en-US" sz="1600" dirty="0"/>
          </a:p>
        </p:txBody>
      </p:sp>
      <p:sp>
        <p:nvSpPr>
          <p:cNvPr id="10" name="Text 7"/>
          <p:cNvSpPr txBox="1"/>
          <p:nvPr/>
        </p:nvSpPr>
        <p:spPr>
          <a:xfrm>
            <a:off x="3749040" y="3063240"/>
            <a:ext cx="4937760" cy="365760"/>
          </a:xfrm>
          <a:prstGeom prst="rect">
            <a:avLst/>
          </a:prstGeom>
          <a:noFill/>
          <a:ln/>
        </p:spPr>
        <p:txBody>
          <a:bodyPr wrap="square" lIns="0" tIns="0" rIns="0" bIns="0" rtlCol="0" anchor="ctr"/>
          <a:lstStyle/>
          <a:p>
            <a:pPr marL="0" indent="0">
              <a:buNone/>
            </a:pPr>
            <a:r>
              <a:rPr lang="en-US" sz="2000" b="1" dirty="0">
                <a:solidFill>
                  <a:schemeClr val="accent1"/>
                </a:solidFill>
                <a:latin typeface="Arial" pitchFamily="34" charset="0"/>
                <a:ea typeface="Arial" pitchFamily="34" charset="-122"/>
                <a:cs typeface="Arial" pitchFamily="34" charset="-120"/>
              </a:rPr>
              <a:t>What stops her</a:t>
            </a:r>
            <a:endParaRPr lang="en-US" sz="2000" dirty="0"/>
          </a:p>
        </p:txBody>
      </p:sp>
      <p:sp>
        <p:nvSpPr>
          <p:cNvPr id="11" name="Text 8"/>
          <p:cNvSpPr txBox="1"/>
          <p:nvPr/>
        </p:nvSpPr>
        <p:spPr>
          <a:xfrm>
            <a:off x="3749040" y="3474720"/>
            <a:ext cx="4937760" cy="914400"/>
          </a:xfrm>
          <a:prstGeom prst="rect">
            <a:avLst/>
          </a:prstGeom>
          <a:noFill/>
          <a:ln/>
        </p:spPr>
        <p:txBody>
          <a:bodyPr wrap="square" lIns="0" tIns="0" rIns="0" bIns="0" rtlCol="0" anchor="ctr"/>
          <a:lstStyle/>
          <a:p>
            <a:pPr marL="342900" indent="-342900">
              <a:spcAft>
                <a:spcPts val="600"/>
              </a:spcAft>
              <a:buSzPct val="100000"/>
              <a:buChar char="•"/>
            </a:pPr>
            <a:r>
              <a:rPr lang="en-US" sz="1500" dirty="0">
                <a:solidFill>
                  <a:schemeClr val="tx1"/>
                </a:solidFill>
                <a:latin typeface="Arial" pitchFamily="34" charset="0"/>
                <a:ea typeface="Arial" pitchFamily="34" charset="-122"/>
                <a:cs typeface="Arial" pitchFamily="34" charset="-120"/>
              </a:rPr>
              <a:t>Several concerns, one short appointment</a:t>
            </a:r>
            <a:endParaRPr lang="en-US" sz="1500" dirty="0"/>
          </a:p>
          <a:p>
            <a:pPr marL="342900" indent="-342900">
              <a:spcAft>
                <a:spcPts val="600"/>
              </a:spcAft>
              <a:buSzPct val="100000"/>
              <a:buChar char="•"/>
            </a:pPr>
            <a:r>
              <a:rPr lang="en-US" sz="1500" dirty="0">
                <a:solidFill>
                  <a:schemeClr val="tx1"/>
                </a:solidFill>
                <a:latin typeface="Arial" pitchFamily="34" charset="0"/>
                <a:ea typeface="Arial" pitchFamily="34" charset="-122"/>
                <a:cs typeface="Arial" pitchFamily="34" charset="-120"/>
              </a:rPr>
              <a:t>Worried she’ll be judged for how she speaks</a:t>
            </a:r>
            <a:endParaRPr lang="en-US" sz="15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1"/>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rPr>
              <a:t>Why people struggle to be heard</a:t>
            </a:r>
            <a:endParaRPr lang="en-US" sz="3200" dirty="0"/>
          </a:p>
        </p:txBody>
      </p:sp>
      <p:sp>
        <p:nvSpPr>
          <p:cNvPr id="3" name="Barrier card 1"/>
          <p:cNvSpPr/>
          <p:nvPr/>
        </p:nvSpPr>
        <p:spPr>
          <a:xfrm>
            <a:off x="457200" y="1234440"/>
            <a:ext cx="1874520" cy="2651760"/>
          </a:xfrm>
          <a:prstGeom prst="roundRect">
            <a:avLst>
              <a:gd name="adj" fmla="val 4878"/>
            </a:avLst>
          </a:prstGeom>
          <a:solidFill>
            <a:schemeClr val="bg2"/>
          </a:solidFill>
          <a:ln/>
        </p:spPr>
        <p:txBody>
          <a:bodyPr/>
          <a:lstStyle/>
          <a:p>
            <a:endParaRPr lang="en-US"/>
          </a:p>
        </p:txBody>
      </p:sp>
      <p:sp>
        <p:nvSpPr>
          <p:cNvPr id="4" name="Shape 2"/>
          <p:cNvSpPr/>
          <p:nvPr/>
        </p:nvSpPr>
        <p:spPr>
          <a:xfrm>
            <a:off x="685800" y="1463040"/>
            <a:ext cx="685800" cy="685800"/>
          </a:xfrm>
          <a:prstGeom prst="ellipse">
            <a:avLst/>
          </a:prstGeom>
          <a:solidFill>
            <a:schemeClr val="accent1"/>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850392" y="1627632"/>
            <a:ext cx="356616" cy="356616"/>
          </a:xfrm>
          <a:prstGeom prst="rect">
            <a:avLst/>
          </a:prstGeom>
        </p:spPr>
      </p:pic>
      <p:sp>
        <p:nvSpPr>
          <p:cNvPr id="6" name="Text 3"/>
          <p:cNvSpPr txBox="1"/>
          <p:nvPr/>
        </p:nvSpPr>
        <p:spPr>
          <a:xfrm>
            <a:off x="685800" y="2331720"/>
            <a:ext cx="1463040" cy="411480"/>
          </a:xfrm>
          <a:prstGeom prst="rect">
            <a:avLst/>
          </a:prstGeom>
          <a:noFill/>
          <a:ln/>
        </p:spPr>
        <p:txBody>
          <a:bodyPr wrap="square" lIns="0" tIns="0" rIns="0" bIns="0" rtlCol="0" anchor="ctr"/>
          <a:lstStyle/>
          <a:p>
            <a:pPr marL="0" indent="0">
              <a:buNone/>
            </a:pPr>
            <a:r>
              <a:rPr lang="en-US" sz="1600" b="1" dirty="0">
                <a:solidFill>
                  <a:schemeClr val="tx2"/>
                </a:solidFill>
                <a:latin typeface="Arial" pitchFamily="34" charset="0"/>
                <a:ea typeface="Arial" pitchFamily="34" charset="-122"/>
                <a:cs typeface="Arial" pitchFamily="34" charset="-120"/>
              </a:rPr>
              <a:t>Jargon</a:t>
            </a:r>
            <a:endParaRPr lang="en-US" sz="1600" dirty="0"/>
          </a:p>
        </p:txBody>
      </p:sp>
      <p:sp>
        <p:nvSpPr>
          <p:cNvPr id="7" name="Text 4"/>
          <p:cNvSpPr txBox="1"/>
          <p:nvPr/>
        </p:nvSpPr>
        <p:spPr>
          <a:xfrm>
            <a:off x="685800" y="2788920"/>
            <a:ext cx="1463040" cy="914400"/>
          </a:xfrm>
          <a:prstGeom prst="rect">
            <a:avLst/>
          </a:prstGeom>
          <a:noFill/>
          <a:ln/>
        </p:spPr>
        <p:txBody>
          <a:bodyPr wrap="square" lIns="0" tIns="0" rIns="0" bIns="0" rtlCol="0" anchor="t"/>
          <a:lstStyle/>
          <a:p>
            <a:pPr marL="0" indent="0">
              <a:buNone/>
            </a:pPr>
            <a:r>
              <a:rPr lang="en-US" sz="1400" dirty="0">
                <a:solidFill>
                  <a:schemeClr val="tx1"/>
                </a:solidFill>
                <a:latin typeface="Arial" pitchFamily="34" charset="0"/>
                <a:ea typeface="Arial" pitchFamily="34" charset="-122"/>
                <a:cs typeface="Arial" pitchFamily="34" charset="-120"/>
              </a:rPr>
              <a:t>Unfamiliar terms make advice hard to act on</a:t>
            </a:r>
            <a:endParaRPr lang="en-US" sz="1400" dirty="0"/>
          </a:p>
        </p:txBody>
      </p:sp>
      <p:sp>
        <p:nvSpPr>
          <p:cNvPr id="8" name="Barrier card 2"/>
          <p:cNvSpPr/>
          <p:nvPr/>
        </p:nvSpPr>
        <p:spPr>
          <a:xfrm>
            <a:off x="2560320" y="1234440"/>
            <a:ext cx="1874520" cy="2651760"/>
          </a:xfrm>
          <a:prstGeom prst="roundRect">
            <a:avLst>
              <a:gd name="adj" fmla="val 4878"/>
            </a:avLst>
          </a:prstGeom>
          <a:solidFill>
            <a:schemeClr val="bg2"/>
          </a:solidFill>
          <a:ln/>
        </p:spPr>
        <p:txBody>
          <a:bodyPr/>
          <a:lstStyle/>
          <a:p>
            <a:endParaRPr lang="en-US"/>
          </a:p>
        </p:txBody>
      </p:sp>
      <p:sp>
        <p:nvSpPr>
          <p:cNvPr id="9" name="Shape 6"/>
          <p:cNvSpPr/>
          <p:nvPr/>
        </p:nvSpPr>
        <p:spPr>
          <a:xfrm>
            <a:off x="2788920" y="1463040"/>
            <a:ext cx="685800" cy="685800"/>
          </a:xfrm>
          <a:prstGeom prst="ellipse">
            <a:avLst/>
          </a:prstGeom>
          <a:solidFill>
            <a:schemeClr val="accent1"/>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2953512" y="1627632"/>
            <a:ext cx="356616" cy="356616"/>
          </a:xfrm>
          <a:prstGeom prst="rect">
            <a:avLst/>
          </a:prstGeom>
        </p:spPr>
      </p:pic>
      <p:sp>
        <p:nvSpPr>
          <p:cNvPr id="11" name="Text 7"/>
          <p:cNvSpPr txBox="1"/>
          <p:nvPr/>
        </p:nvSpPr>
        <p:spPr>
          <a:xfrm>
            <a:off x="2788920" y="2331720"/>
            <a:ext cx="1463040" cy="411480"/>
          </a:xfrm>
          <a:prstGeom prst="rect">
            <a:avLst/>
          </a:prstGeom>
          <a:noFill/>
          <a:ln/>
        </p:spPr>
        <p:txBody>
          <a:bodyPr wrap="square" lIns="0" tIns="0" rIns="0" bIns="0" rtlCol="0" anchor="ctr"/>
          <a:lstStyle/>
          <a:p>
            <a:pPr marL="0" indent="0">
              <a:buNone/>
            </a:pPr>
            <a:r>
              <a:rPr lang="en-US" sz="1600" b="1" dirty="0">
                <a:solidFill>
                  <a:schemeClr val="tx2"/>
                </a:solidFill>
                <a:latin typeface="Arial" pitchFamily="34" charset="0"/>
                <a:ea typeface="Arial" pitchFamily="34" charset="-122"/>
                <a:cs typeface="Arial" pitchFamily="34" charset="-120"/>
              </a:rPr>
              <a:t>Explaining</a:t>
            </a:r>
            <a:endParaRPr lang="en-US" sz="1600" dirty="0"/>
          </a:p>
        </p:txBody>
      </p:sp>
      <p:sp>
        <p:nvSpPr>
          <p:cNvPr id="12" name="Text 8"/>
          <p:cNvSpPr txBox="1"/>
          <p:nvPr/>
        </p:nvSpPr>
        <p:spPr>
          <a:xfrm>
            <a:off x="2788920" y="2788920"/>
            <a:ext cx="1463040" cy="914400"/>
          </a:xfrm>
          <a:prstGeom prst="rect">
            <a:avLst/>
          </a:prstGeom>
          <a:noFill/>
          <a:ln/>
        </p:spPr>
        <p:txBody>
          <a:bodyPr wrap="square" lIns="0" tIns="0" rIns="0" bIns="0" rtlCol="0" anchor="t"/>
          <a:lstStyle/>
          <a:p>
            <a:pPr marL="0" indent="0">
              <a:buNone/>
            </a:pPr>
            <a:r>
              <a:rPr lang="en-US" sz="1400" dirty="0">
                <a:solidFill>
                  <a:schemeClr val="tx1"/>
                </a:solidFill>
                <a:latin typeface="Arial" pitchFamily="34" charset="0"/>
                <a:ea typeface="Arial" pitchFamily="34" charset="-122"/>
                <a:cs typeface="Arial" pitchFamily="34" charset="-120"/>
              </a:rPr>
              <a:t>Several or recurring concerns get lost in a short slot</a:t>
            </a:r>
            <a:endParaRPr lang="en-US" sz="1400" dirty="0"/>
          </a:p>
        </p:txBody>
      </p:sp>
      <p:sp>
        <p:nvSpPr>
          <p:cNvPr id="13" name="Barrier card 3"/>
          <p:cNvSpPr/>
          <p:nvPr/>
        </p:nvSpPr>
        <p:spPr>
          <a:xfrm>
            <a:off x="4663440" y="1234440"/>
            <a:ext cx="1874520" cy="2651760"/>
          </a:xfrm>
          <a:prstGeom prst="roundRect">
            <a:avLst>
              <a:gd name="adj" fmla="val 4878"/>
            </a:avLst>
          </a:prstGeom>
          <a:solidFill>
            <a:schemeClr val="bg2"/>
          </a:solidFill>
          <a:ln/>
        </p:spPr>
        <p:txBody>
          <a:bodyPr/>
          <a:lstStyle/>
          <a:p>
            <a:endParaRPr lang="en-US"/>
          </a:p>
        </p:txBody>
      </p:sp>
      <p:sp>
        <p:nvSpPr>
          <p:cNvPr id="14" name="Shape 10"/>
          <p:cNvSpPr/>
          <p:nvPr/>
        </p:nvSpPr>
        <p:spPr>
          <a:xfrm>
            <a:off x="4892040" y="1463040"/>
            <a:ext cx="685800" cy="685800"/>
          </a:xfrm>
          <a:prstGeom prst="ellipse">
            <a:avLst/>
          </a:prstGeom>
          <a:solidFill>
            <a:schemeClr val="accent1"/>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5056632" y="1627632"/>
            <a:ext cx="356616" cy="356616"/>
          </a:xfrm>
          <a:prstGeom prst="rect">
            <a:avLst/>
          </a:prstGeom>
        </p:spPr>
      </p:pic>
      <p:sp>
        <p:nvSpPr>
          <p:cNvPr id="16" name="Text 11"/>
          <p:cNvSpPr txBox="1"/>
          <p:nvPr/>
        </p:nvSpPr>
        <p:spPr>
          <a:xfrm>
            <a:off x="4892040" y="2331720"/>
            <a:ext cx="1463040" cy="411480"/>
          </a:xfrm>
          <a:prstGeom prst="rect">
            <a:avLst/>
          </a:prstGeom>
          <a:noFill/>
          <a:ln/>
        </p:spPr>
        <p:txBody>
          <a:bodyPr wrap="square" lIns="0" tIns="0" rIns="0" bIns="0" rtlCol="0" anchor="ctr"/>
          <a:lstStyle/>
          <a:p>
            <a:pPr marL="0" indent="0">
              <a:buNone/>
            </a:pPr>
            <a:r>
              <a:rPr lang="en-US" sz="1600" b="1" dirty="0">
                <a:solidFill>
                  <a:schemeClr val="tx2"/>
                </a:solidFill>
                <a:latin typeface="Arial" pitchFamily="34" charset="0"/>
                <a:ea typeface="Arial" pitchFamily="34" charset="-122"/>
                <a:cs typeface="Arial" pitchFamily="34" charset="-120"/>
              </a:rPr>
              <a:t>Trust</a:t>
            </a:r>
            <a:endParaRPr lang="en-US" sz="1600" dirty="0"/>
          </a:p>
        </p:txBody>
      </p:sp>
      <p:sp>
        <p:nvSpPr>
          <p:cNvPr id="17" name="Text 12"/>
          <p:cNvSpPr txBox="1"/>
          <p:nvPr/>
        </p:nvSpPr>
        <p:spPr>
          <a:xfrm>
            <a:off x="4892040" y="2788920"/>
            <a:ext cx="1463040" cy="914400"/>
          </a:xfrm>
          <a:prstGeom prst="rect">
            <a:avLst/>
          </a:prstGeom>
          <a:noFill/>
          <a:ln/>
        </p:spPr>
        <p:txBody>
          <a:bodyPr wrap="square" lIns="0" tIns="0" rIns="0" bIns="0" rtlCol="0" anchor="t"/>
          <a:lstStyle/>
          <a:p>
            <a:pPr marL="0" indent="0">
              <a:buNone/>
            </a:pPr>
            <a:r>
              <a:rPr lang="en-US" sz="1400" dirty="0">
                <a:solidFill>
                  <a:schemeClr val="tx1"/>
                </a:solidFill>
                <a:latin typeface="Arial" pitchFamily="34" charset="0"/>
                <a:ea typeface="Arial" pitchFamily="34" charset="-122"/>
                <a:cs typeface="Arial" pitchFamily="34" charset="-120"/>
              </a:rPr>
              <a:t>Shame or distrust can lead to underreporting</a:t>
            </a:r>
            <a:endParaRPr lang="en-US" sz="1400" dirty="0"/>
          </a:p>
        </p:txBody>
      </p:sp>
      <p:sp>
        <p:nvSpPr>
          <p:cNvPr id="18" name="Barrier card 4"/>
          <p:cNvSpPr/>
          <p:nvPr/>
        </p:nvSpPr>
        <p:spPr>
          <a:xfrm>
            <a:off x="6766560" y="1234440"/>
            <a:ext cx="1874520" cy="2651760"/>
          </a:xfrm>
          <a:prstGeom prst="roundRect">
            <a:avLst>
              <a:gd name="adj" fmla="val 4878"/>
            </a:avLst>
          </a:prstGeom>
          <a:solidFill>
            <a:schemeClr val="bg2"/>
          </a:solidFill>
          <a:ln/>
        </p:spPr>
        <p:txBody>
          <a:bodyPr/>
          <a:lstStyle/>
          <a:p>
            <a:endParaRPr lang="en-US"/>
          </a:p>
        </p:txBody>
      </p:sp>
      <p:sp>
        <p:nvSpPr>
          <p:cNvPr id="19" name="Shape 14"/>
          <p:cNvSpPr/>
          <p:nvPr/>
        </p:nvSpPr>
        <p:spPr>
          <a:xfrm>
            <a:off x="6995160" y="1463040"/>
            <a:ext cx="685800" cy="685800"/>
          </a:xfrm>
          <a:prstGeom prst="ellipse">
            <a:avLst/>
          </a:prstGeom>
          <a:solidFill>
            <a:schemeClr val="accent4"/>
          </a:solidFill>
          <a:ln/>
        </p:spPr>
        <p:txBody>
          <a:bodyPr/>
          <a:lstStyle/>
          <a:p>
            <a:endParaRPr lang="en-US"/>
          </a:p>
        </p:txBody>
      </p:sp>
      <p:pic>
        <p:nvPicPr>
          <p:cNvPr id="20" name="Image 3" descr="preencoded.png"/>
          <p:cNvPicPr>
            <a:picLocks noChangeAspect="1"/>
          </p:cNvPicPr>
          <p:nvPr/>
        </p:nvPicPr>
        <p:blipFill>
          <a:blip r:embed="rId6"/>
          <a:stretch>
            <a:fillRect/>
          </a:stretch>
        </p:blipFill>
        <p:spPr>
          <a:xfrm>
            <a:off x="7159752" y="1627632"/>
            <a:ext cx="356616" cy="356616"/>
          </a:xfrm>
          <a:prstGeom prst="rect">
            <a:avLst/>
          </a:prstGeom>
        </p:spPr>
      </p:pic>
      <p:sp>
        <p:nvSpPr>
          <p:cNvPr id="21" name="Text 15"/>
          <p:cNvSpPr txBox="1"/>
          <p:nvPr/>
        </p:nvSpPr>
        <p:spPr>
          <a:xfrm>
            <a:off x="6995160" y="2331720"/>
            <a:ext cx="1463040" cy="411480"/>
          </a:xfrm>
          <a:prstGeom prst="rect">
            <a:avLst/>
          </a:prstGeom>
          <a:noFill/>
          <a:ln/>
        </p:spPr>
        <p:txBody>
          <a:bodyPr wrap="square" lIns="0" tIns="0" rIns="0" bIns="0" rtlCol="0" anchor="ctr"/>
          <a:lstStyle/>
          <a:p>
            <a:pPr marL="0" indent="0">
              <a:buNone/>
            </a:pPr>
            <a:r>
              <a:rPr lang="en-US" sz="1600" b="1" dirty="0">
                <a:solidFill>
                  <a:schemeClr val="tx2"/>
                </a:solidFill>
                <a:latin typeface="Arial" pitchFamily="34" charset="0"/>
                <a:ea typeface="Arial" pitchFamily="34" charset="-122"/>
                <a:cs typeface="Arial" pitchFamily="34" charset="-120"/>
              </a:rPr>
              <a:t>Next steps</a:t>
            </a:r>
            <a:endParaRPr lang="en-US" sz="1600" dirty="0"/>
          </a:p>
        </p:txBody>
      </p:sp>
      <p:sp>
        <p:nvSpPr>
          <p:cNvPr id="22" name="Text 16"/>
          <p:cNvSpPr txBox="1"/>
          <p:nvPr/>
        </p:nvSpPr>
        <p:spPr>
          <a:xfrm>
            <a:off x="6995160" y="2788920"/>
            <a:ext cx="1463040" cy="914400"/>
          </a:xfrm>
          <a:prstGeom prst="rect">
            <a:avLst/>
          </a:prstGeom>
          <a:noFill/>
          <a:ln/>
        </p:spPr>
        <p:txBody>
          <a:bodyPr wrap="square" lIns="0" tIns="0" rIns="0" bIns="0" rtlCol="0" anchor="t"/>
          <a:lstStyle/>
          <a:p>
            <a:pPr marL="0" indent="0">
              <a:buNone/>
            </a:pPr>
            <a:r>
              <a:rPr lang="en-US" sz="1400" dirty="0">
                <a:solidFill>
                  <a:schemeClr val="tx1"/>
                </a:solidFill>
                <a:latin typeface="Arial" pitchFamily="34" charset="0"/>
                <a:ea typeface="Arial" pitchFamily="34" charset="-122"/>
                <a:cs typeface="Arial" pitchFamily="34" charset="-120"/>
              </a:rPr>
              <a:t>People leave unsure what to do next</a:t>
            </a:r>
            <a:endParaRPr lang="en-US" sz="1400" dirty="0"/>
          </a:p>
        </p:txBody>
      </p:sp>
      <p:sp>
        <p:nvSpPr>
          <p:cNvPr id="23" name="Text 17"/>
          <p:cNvSpPr txBox="1"/>
          <p:nvPr/>
        </p:nvSpPr>
        <p:spPr>
          <a:xfrm>
            <a:off x="457200" y="4114800"/>
            <a:ext cx="8229600" cy="411480"/>
          </a:xfrm>
          <a:prstGeom prst="rect">
            <a:avLst/>
          </a:prstGeom>
          <a:noFill/>
          <a:ln/>
        </p:spPr>
        <p:txBody>
          <a:bodyPr wrap="square" lIns="0" tIns="0" rIns="0" bIns="0" rtlCol="0" anchor="ctr"/>
          <a:lstStyle/>
          <a:p>
            <a:pPr marL="0" indent="0">
              <a:buNone/>
            </a:pPr>
            <a:r>
              <a:rPr lang="en-US" sz="1500" i="1" dirty="0">
                <a:solidFill>
                  <a:schemeClr val="accent1"/>
                </a:solidFill>
                <a:latin typeface="Arial" pitchFamily="34" charset="0"/>
                <a:ea typeface="Arial" pitchFamily="34" charset="-122"/>
                <a:cs typeface="Arial" pitchFamily="34" charset="-120"/>
              </a:rPr>
              <a:t>Together these speak to a wider community, including people not born in the UK.</a:t>
            </a:r>
            <a:endParaRPr lang="en-US" sz="15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1"/>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rPr>
              <a:t>The scale of the problem</a:t>
            </a:r>
            <a:endParaRPr lang="en-US" sz="3200" dirty="0"/>
          </a:p>
        </p:txBody>
      </p:sp>
      <p:sp>
        <p:nvSpPr>
          <p:cNvPr id="3" name="Text 1"/>
          <p:cNvSpPr txBox="1"/>
          <p:nvPr/>
        </p:nvSpPr>
        <p:spPr>
          <a:xfrm>
            <a:off x="457200" y="1463040"/>
            <a:ext cx="3840480" cy="1097280"/>
          </a:xfrm>
          <a:prstGeom prst="rect">
            <a:avLst/>
          </a:prstGeom>
          <a:noFill/>
          <a:ln/>
        </p:spPr>
        <p:txBody>
          <a:bodyPr wrap="square" lIns="0" tIns="0" rIns="0" bIns="0" rtlCol="0" anchor="ctr"/>
          <a:lstStyle/>
          <a:p>
            <a:pPr marL="0" indent="0">
              <a:buNone/>
            </a:pPr>
            <a:r>
              <a:rPr lang="en-US" sz="5400" b="1" dirty="0">
                <a:solidFill>
                  <a:schemeClr val="accent1"/>
                </a:solidFill>
                <a:latin typeface="Arial" pitchFamily="34" charset="0"/>
                <a:ea typeface="Arial" pitchFamily="34" charset="-122"/>
                <a:cs typeface="Arial" pitchFamily="34" charset="-120"/>
              </a:rPr>
              <a:t>42%</a:t>
            </a:r>
            <a:endParaRPr lang="en-US" sz="5400" dirty="0"/>
          </a:p>
        </p:txBody>
      </p:sp>
      <p:sp>
        <p:nvSpPr>
          <p:cNvPr id="4" name="Text 2"/>
          <p:cNvSpPr txBox="1"/>
          <p:nvPr/>
        </p:nvSpPr>
        <p:spPr>
          <a:xfrm>
            <a:off x="457200" y="2651760"/>
            <a:ext cx="3657600" cy="822960"/>
          </a:xfrm>
          <a:prstGeom prst="rect">
            <a:avLst/>
          </a:prstGeom>
          <a:noFill/>
          <a:ln/>
        </p:spPr>
        <p:txBody>
          <a:bodyPr wrap="square" lIns="0" tIns="0" rIns="0" bIns="0" rtlCol="0" anchor="t"/>
          <a:lstStyle/>
          <a:p>
            <a:pPr marL="0" indent="0">
              <a:buNone/>
            </a:pPr>
            <a:r>
              <a:rPr lang="en-US" sz="1600" dirty="0">
                <a:solidFill>
                  <a:schemeClr val="tx1"/>
                </a:solidFill>
                <a:latin typeface="Arial" pitchFamily="34" charset="0"/>
                <a:ea typeface="Arial" pitchFamily="34" charset="-122"/>
                <a:cs typeface="Arial" pitchFamily="34" charset="-120"/>
              </a:rPr>
              <a:t>of working-age adults in England can’t understand or use everyday health information</a:t>
            </a:r>
            <a:endParaRPr lang="en-US" sz="1600" dirty="0"/>
          </a:p>
        </p:txBody>
      </p:sp>
      <p:sp>
        <p:nvSpPr>
          <p:cNvPr id="5" name="Text 3"/>
          <p:cNvSpPr txBox="1"/>
          <p:nvPr/>
        </p:nvSpPr>
        <p:spPr>
          <a:xfrm>
            <a:off x="4663440" y="1463040"/>
            <a:ext cx="3840480" cy="1097280"/>
          </a:xfrm>
          <a:prstGeom prst="rect">
            <a:avLst/>
          </a:prstGeom>
          <a:noFill/>
          <a:ln/>
        </p:spPr>
        <p:txBody>
          <a:bodyPr wrap="square" lIns="0" tIns="0" rIns="0" bIns="0" rtlCol="0" anchor="ctr"/>
          <a:lstStyle/>
          <a:p>
            <a:pPr marL="0" indent="0">
              <a:buNone/>
            </a:pPr>
            <a:r>
              <a:rPr lang="en-US" sz="5400" b="1" dirty="0">
                <a:solidFill>
                  <a:schemeClr val="accent1"/>
                </a:solidFill>
                <a:latin typeface="Arial" pitchFamily="34" charset="0"/>
                <a:ea typeface="Arial" pitchFamily="34" charset="-122"/>
                <a:cs typeface="Arial" pitchFamily="34" charset="-120"/>
              </a:rPr>
              <a:t>1 million+</a:t>
            </a:r>
            <a:endParaRPr lang="en-US" sz="5400" dirty="0"/>
          </a:p>
        </p:txBody>
      </p:sp>
      <p:sp>
        <p:nvSpPr>
          <p:cNvPr id="6" name="Text 4"/>
          <p:cNvSpPr txBox="1"/>
          <p:nvPr/>
        </p:nvSpPr>
        <p:spPr>
          <a:xfrm>
            <a:off x="4663440" y="2651760"/>
            <a:ext cx="3657600" cy="822960"/>
          </a:xfrm>
          <a:prstGeom prst="rect">
            <a:avLst/>
          </a:prstGeom>
          <a:noFill/>
          <a:ln/>
        </p:spPr>
        <p:txBody>
          <a:bodyPr wrap="square" lIns="0" tIns="0" rIns="0" bIns="0" rtlCol="0" anchor="t"/>
          <a:lstStyle/>
          <a:p>
            <a:pPr marL="0" indent="0">
              <a:buNone/>
            </a:pPr>
            <a:r>
              <a:rPr lang="en-US" sz="1600" dirty="0">
                <a:solidFill>
                  <a:schemeClr val="tx1"/>
                </a:solidFill>
                <a:latin typeface="Arial" pitchFamily="34" charset="0"/>
                <a:ea typeface="Arial" pitchFamily="34" charset="-122"/>
                <a:cs typeface="Arial" pitchFamily="34" charset="-120"/>
              </a:rPr>
              <a:t>people in England and Wales can’t speak English well, or at all</a:t>
            </a:r>
            <a:endParaRPr lang="en-US" sz="1600" dirty="0"/>
          </a:p>
        </p:txBody>
      </p:sp>
      <p:sp>
        <p:nvSpPr>
          <p:cNvPr id="7" name="Text 5"/>
          <p:cNvSpPr txBox="1"/>
          <p:nvPr/>
        </p:nvSpPr>
        <p:spPr>
          <a:xfrm>
            <a:off x="457200" y="4297680"/>
            <a:ext cx="7772400" cy="320040"/>
          </a:xfrm>
          <a:prstGeom prst="rect">
            <a:avLst/>
          </a:prstGeom>
          <a:noFill/>
          <a:ln/>
        </p:spPr>
        <p:txBody>
          <a:bodyPr wrap="square" lIns="0" tIns="0" rIns="0" bIns="0" rtlCol="0" anchor="ctr"/>
          <a:lstStyle/>
          <a:p>
            <a:pPr marL="0" indent="0">
              <a:buNone/>
            </a:pPr>
            <a:r>
              <a:rPr lang="en-US" sz="1100" dirty="0">
                <a:solidFill>
                  <a:schemeClr val="tx1"/>
                </a:solidFill>
                <a:latin typeface="Arial" pitchFamily="34" charset="0"/>
                <a:ea typeface="Arial" pitchFamily="34" charset="-122"/>
                <a:cs typeface="Arial" pitchFamily="34" charset="-120"/>
              </a:rPr>
              <a:t>Sources: Public Health England and UCL Institute of Health Equity (2015); ONS Census 2021, England and Wales</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1"/>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rPr>
              <a:t>Our solution</a:t>
            </a:r>
            <a:endParaRPr lang="en-US" sz="3200" dirty="0"/>
          </a:p>
        </p:txBody>
      </p:sp>
      <p:sp>
        <p:nvSpPr>
          <p:cNvPr id="3" name="Text 1"/>
          <p:cNvSpPr txBox="1"/>
          <p:nvPr/>
        </p:nvSpPr>
        <p:spPr>
          <a:xfrm>
            <a:off x="457200" y="1097280"/>
            <a:ext cx="8229600" cy="731520"/>
          </a:xfrm>
          <a:prstGeom prst="rect">
            <a:avLst/>
          </a:prstGeom>
          <a:noFill/>
          <a:ln/>
        </p:spPr>
        <p:txBody>
          <a:bodyPr wrap="square" lIns="0" tIns="0" rIns="0" bIns="0" rtlCol="0" anchor="ctr"/>
          <a:lstStyle/>
          <a:p>
            <a:pPr marL="0" indent="0">
              <a:buNone/>
            </a:pPr>
            <a:r>
              <a:rPr lang="en-US" sz="1800" dirty="0">
                <a:solidFill>
                  <a:schemeClr val="tx1"/>
                </a:solidFill>
                <a:latin typeface="Arial" pitchFamily="34" charset="0"/>
                <a:ea typeface="Arial" pitchFamily="34" charset="-122"/>
                <a:cs typeface="Arial" pitchFamily="34" charset="-120"/>
              </a:rPr>
              <a:t>A web app that helps people prepare for NHS appointments and understand what they were told, in any language or dialect. It never diagnoses.</a:t>
            </a:r>
            <a:endParaRPr lang="en-US" sz="1800" dirty="0"/>
          </a:p>
        </p:txBody>
      </p:sp>
      <p:sp>
        <p:nvSpPr>
          <p:cNvPr id="4" name="Pillar 1"/>
          <p:cNvSpPr/>
          <p:nvPr/>
        </p:nvSpPr>
        <p:spPr>
          <a:xfrm>
            <a:off x="457200" y="2057400"/>
            <a:ext cx="2560320" cy="2514600"/>
          </a:xfrm>
          <a:prstGeom prst="roundRect">
            <a:avLst>
              <a:gd name="adj" fmla="val 3636"/>
            </a:avLst>
          </a:prstGeom>
          <a:solidFill>
            <a:schemeClr val="bg2"/>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731520" y="2286000"/>
            <a:ext cx="502920" cy="502920"/>
          </a:xfrm>
          <a:prstGeom prst="rect">
            <a:avLst/>
          </a:prstGeom>
        </p:spPr>
      </p:pic>
      <p:sp>
        <p:nvSpPr>
          <p:cNvPr id="6" name="Text 3"/>
          <p:cNvSpPr txBox="1"/>
          <p:nvPr/>
        </p:nvSpPr>
        <p:spPr>
          <a:xfrm>
            <a:off x="731520" y="2926080"/>
            <a:ext cx="2011680" cy="411480"/>
          </a:xfrm>
          <a:prstGeom prst="rect">
            <a:avLst/>
          </a:prstGeom>
          <a:noFill/>
          <a:ln/>
        </p:spPr>
        <p:txBody>
          <a:bodyPr wrap="square" lIns="0" tIns="0" rIns="0" bIns="0" rtlCol="0" anchor="ctr"/>
          <a:lstStyle/>
          <a:p>
            <a:pPr marL="0" indent="0">
              <a:buNone/>
            </a:pPr>
            <a:r>
              <a:rPr lang="en-US" sz="2000" b="1" dirty="0">
                <a:solidFill>
                  <a:schemeClr val="tx2"/>
                </a:solidFill>
                <a:latin typeface="Arial" pitchFamily="34" charset="0"/>
                <a:ea typeface="Arial" pitchFamily="34" charset="-122"/>
                <a:cs typeface="Arial" pitchFamily="34" charset="-120"/>
              </a:rPr>
              <a:t>Describe</a:t>
            </a:r>
            <a:endParaRPr lang="en-US" sz="2000" dirty="0"/>
          </a:p>
        </p:txBody>
      </p:sp>
      <p:sp>
        <p:nvSpPr>
          <p:cNvPr id="7" name="Text 4"/>
          <p:cNvSpPr txBox="1"/>
          <p:nvPr/>
        </p:nvSpPr>
        <p:spPr>
          <a:xfrm>
            <a:off x="731520" y="3383280"/>
            <a:ext cx="2057400" cy="1005840"/>
          </a:xfrm>
          <a:prstGeom prst="rect">
            <a:avLst/>
          </a:prstGeom>
          <a:noFill/>
          <a:ln/>
        </p:spPr>
        <p:txBody>
          <a:bodyPr wrap="square" lIns="0" tIns="0" rIns="0" bIns="0" rtlCol="0" anchor="t"/>
          <a:lstStyle/>
          <a:p>
            <a:pPr marL="0" indent="0">
              <a:buNone/>
            </a:pPr>
            <a:r>
              <a:rPr lang="en-US" sz="1400" dirty="0">
                <a:solidFill>
                  <a:schemeClr val="tx1"/>
                </a:solidFill>
                <a:latin typeface="Arial" pitchFamily="34" charset="0"/>
                <a:ea typeface="Arial" pitchFamily="34" charset="-122"/>
                <a:cs typeface="Arial" pitchFamily="34" charset="-120"/>
              </a:rPr>
              <a:t>Type, speak or photograph a letter, in your own words and language</a:t>
            </a:r>
            <a:endParaRPr lang="en-US" sz="1400" dirty="0"/>
          </a:p>
        </p:txBody>
      </p:sp>
      <p:sp>
        <p:nvSpPr>
          <p:cNvPr id="8" name="Pillar 2"/>
          <p:cNvSpPr/>
          <p:nvPr/>
        </p:nvSpPr>
        <p:spPr>
          <a:xfrm>
            <a:off x="3291840" y="2057400"/>
            <a:ext cx="2560320" cy="2514600"/>
          </a:xfrm>
          <a:prstGeom prst="roundRect">
            <a:avLst>
              <a:gd name="adj" fmla="val 3636"/>
            </a:avLst>
          </a:prstGeom>
          <a:solidFill>
            <a:schemeClr val="accent1"/>
          </a:solidFill>
          <a:ln/>
        </p:spPr>
        <p:txBody>
          <a:bodyPr/>
          <a:lstStyle/>
          <a:p>
            <a:endParaRPr lang="en-US"/>
          </a:p>
        </p:txBody>
      </p:sp>
      <p:pic>
        <p:nvPicPr>
          <p:cNvPr id="9" name="Image 1" descr="preencoded.png"/>
          <p:cNvPicPr>
            <a:picLocks noChangeAspect="1"/>
          </p:cNvPicPr>
          <p:nvPr/>
        </p:nvPicPr>
        <p:blipFill>
          <a:blip r:embed="rId4"/>
          <a:stretch>
            <a:fillRect/>
          </a:stretch>
        </p:blipFill>
        <p:spPr>
          <a:xfrm>
            <a:off x="3566160" y="2286000"/>
            <a:ext cx="502920" cy="502920"/>
          </a:xfrm>
          <a:prstGeom prst="rect">
            <a:avLst/>
          </a:prstGeom>
        </p:spPr>
      </p:pic>
      <p:sp>
        <p:nvSpPr>
          <p:cNvPr id="10" name="Text 6"/>
          <p:cNvSpPr txBox="1"/>
          <p:nvPr/>
        </p:nvSpPr>
        <p:spPr>
          <a:xfrm>
            <a:off x="3566160" y="2926080"/>
            <a:ext cx="2011680" cy="411480"/>
          </a:xfrm>
          <a:prstGeom prst="rect">
            <a:avLst/>
          </a:prstGeom>
          <a:noFill/>
          <a:ln/>
        </p:spPr>
        <p:txBody>
          <a:bodyPr wrap="square" lIns="0" tIns="0" rIns="0" bIns="0" rtlCol="0" anchor="ctr"/>
          <a:lstStyle/>
          <a:p>
            <a:pPr marL="0" indent="0">
              <a:buNone/>
            </a:pPr>
            <a:r>
              <a:rPr lang="en-US" sz="2000" b="1" dirty="0">
                <a:solidFill>
                  <a:schemeClr val="bg1"/>
                </a:solidFill>
                <a:latin typeface="Arial" pitchFamily="34" charset="0"/>
                <a:ea typeface="Arial" pitchFamily="34" charset="-122"/>
                <a:cs typeface="Arial" pitchFamily="34" charset="-120"/>
              </a:rPr>
              <a:t>Summarise</a:t>
            </a:r>
            <a:endParaRPr lang="en-US" sz="2000" dirty="0"/>
          </a:p>
        </p:txBody>
      </p:sp>
      <p:sp>
        <p:nvSpPr>
          <p:cNvPr id="11" name="Text 7"/>
          <p:cNvSpPr txBox="1"/>
          <p:nvPr/>
        </p:nvSpPr>
        <p:spPr>
          <a:xfrm>
            <a:off x="3566160" y="3383280"/>
            <a:ext cx="2057400" cy="1005840"/>
          </a:xfrm>
          <a:prstGeom prst="rect">
            <a:avLst/>
          </a:prstGeom>
          <a:noFill/>
          <a:ln/>
        </p:spPr>
        <p:txBody>
          <a:bodyPr wrap="square" lIns="0" tIns="0" rIns="0" bIns="0" rtlCol="0" anchor="t"/>
          <a:lstStyle/>
          <a:p>
            <a:pPr marL="0" indent="0">
              <a:buNone/>
            </a:pPr>
            <a:r>
              <a:rPr lang="en-US" sz="1400" dirty="0">
                <a:solidFill>
                  <a:schemeClr val="bg1"/>
                </a:solidFill>
                <a:latin typeface="Arial" pitchFamily="34" charset="0"/>
                <a:ea typeface="Arial" pitchFamily="34" charset="-122"/>
                <a:cs typeface="Arial" pitchFamily="34" charset="-120"/>
              </a:rPr>
              <a:t>Clean English for the clinician, plus your own version to check</a:t>
            </a:r>
            <a:endParaRPr lang="en-US" sz="1400" dirty="0"/>
          </a:p>
        </p:txBody>
      </p:sp>
      <p:sp>
        <p:nvSpPr>
          <p:cNvPr id="12" name="Pillar 3"/>
          <p:cNvSpPr/>
          <p:nvPr/>
        </p:nvSpPr>
        <p:spPr>
          <a:xfrm>
            <a:off x="6126480" y="2057400"/>
            <a:ext cx="2560320" cy="2514600"/>
          </a:xfrm>
          <a:prstGeom prst="roundRect">
            <a:avLst>
              <a:gd name="adj" fmla="val 3636"/>
            </a:avLst>
          </a:prstGeom>
          <a:solidFill>
            <a:schemeClr val="bg2"/>
          </a:solidFill>
          <a:ln/>
        </p:spPr>
        <p:txBody>
          <a:bodyPr/>
          <a:lstStyle/>
          <a:p>
            <a:endParaRPr lang="en-US"/>
          </a:p>
        </p:txBody>
      </p:sp>
      <p:pic>
        <p:nvPicPr>
          <p:cNvPr id="13" name="Image 2" descr="preencoded.png"/>
          <p:cNvPicPr>
            <a:picLocks noChangeAspect="1"/>
          </p:cNvPicPr>
          <p:nvPr/>
        </p:nvPicPr>
        <p:blipFill>
          <a:blip r:embed="rId5"/>
          <a:stretch>
            <a:fillRect/>
          </a:stretch>
        </p:blipFill>
        <p:spPr>
          <a:xfrm>
            <a:off x="6400800" y="2286000"/>
            <a:ext cx="502920" cy="502920"/>
          </a:xfrm>
          <a:prstGeom prst="rect">
            <a:avLst/>
          </a:prstGeom>
        </p:spPr>
      </p:pic>
      <p:sp>
        <p:nvSpPr>
          <p:cNvPr id="14" name="Text 9"/>
          <p:cNvSpPr txBox="1"/>
          <p:nvPr/>
        </p:nvSpPr>
        <p:spPr>
          <a:xfrm>
            <a:off x="6400800" y="2926080"/>
            <a:ext cx="2011680" cy="411480"/>
          </a:xfrm>
          <a:prstGeom prst="rect">
            <a:avLst/>
          </a:prstGeom>
          <a:noFill/>
          <a:ln/>
        </p:spPr>
        <p:txBody>
          <a:bodyPr wrap="square" lIns="0" tIns="0" rIns="0" bIns="0" rtlCol="0" anchor="ctr"/>
          <a:lstStyle/>
          <a:p>
            <a:pPr marL="0" indent="0">
              <a:buNone/>
            </a:pPr>
            <a:r>
              <a:rPr lang="en-US" sz="2000" b="1" dirty="0">
                <a:solidFill>
                  <a:schemeClr val="tx2"/>
                </a:solidFill>
                <a:latin typeface="Arial" pitchFamily="34" charset="0"/>
                <a:ea typeface="Arial" pitchFamily="34" charset="-122"/>
                <a:cs typeface="Arial" pitchFamily="34" charset="-120"/>
              </a:rPr>
              <a:t>Explain</a:t>
            </a:r>
            <a:endParaRPr lang="en-US" sz="2000" dirty="0"/>
          </a:p>
        </p:txBody>
      </p:sp>
      <p:sp>
        <p:nvSpPr>
          <p:cNvPr id="15" name="Text 10"/>
          <p:cNvSpPr txBox="1"/>
          <p:nvPr/>
        </p:nvSpPr>
        <p:spPr>
          <a:xfrm>
            <a:off x="6400800" y="3383280"/>
            <a:ext cx="2057400" cy="1005840"/>
          </a:xfrm>
          <a:prstGeom prst="rect">
            <a:avLst/>
          </a:prstGeom>
          <a:noFill/>
          <a:ln/>
        </p:spPr>
        <p:txBody>
          <a:bodyPr wrap="square" lIns="0" tIns="0" rIns="0" bIns="0" rtlCol="0" anchor="t"/>
          <a:lstStyle/>
          <a:p>
            <a:pPr marL="0" indent="0">
              <a:buNone/>
            </a:pPr>
            <a:r>
              <a:rPr lang="en-US" sz="1400" dirty="0">
                <a:solidFill>
                  <a:schemeClr val="tx1"/>
                </a:solidFill>
                <a:latin typeface="Arial" pitchFamily="34" charset="0"/>
                <a:ea typeface="Arial" pitchFamily="34" charset="-122"/>
                <a:cs typeface="Arial" pitchFamily="34" charset="-120"/>
              </a:rPr>
              <a:t>Letters explained in everyday words, every step tied to a quote</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1"/>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rPr>
              <a:t>How it works</a:t>
            </a:r>
            <a:endParaRPr lang="en-US" sz="3200" dirty="0"/>
          </a:p>
        </p:txBody>
      </p:sp>
      <p:sp>
        <p:nvSpPr>
          <p:cNvPr id="3" name="Shape 1"/>
          <p:cNvSpPr/>
          <p:nvPr/>
        </p:nvSpPr>
        <p:spPr>
          <a:xfrm>
            <a:off x="1005840" y="1371600"/>
            <a:ext cx="731520" cy="731520"/>
          </a:xfrm>
          <a:prstGeom prst="ellipse">
            <a:avLst/>
          </a:prstGeom>
          <a:solidFill>
            <a:schemeClr val="accent1"/>
          </a:solidFill>
          <a:ln/>
        </p:spPr>
        <p:txBody>
          <a:bodyPr/>
          <a:lstStyle/>
          <a:p>
            <a:endParaRPr lang="en-US"/>
          </a:p>
        </p:txBody>
      </p:sp>
      <p:sp>
        <p:nvSpPr>
          <p:cNvPr id="4" name="Text 2"/>
          <p:cNvSpPr txBox="1"/>
          <p:nvPr/>
        </p:nvSpPr>
        <p:spPr>
          <a:xfrm>
            <a:off x="1005840" y="1371600"/>
            <a:ext cx="731520" cy="731520"/>
          </a:xfrm>
          <a:prstGeom prst="rect">
            <a:avLst/>
          </a:prstGeom>
          <a:noFill/>
          <a:ln/>
        </p:spPr>
        <p:txBody>
          <a:bodyPr wrap="square" lIns="0" tIns="0" rIns="0" bIns="0" rtlCol="0" anchor="ctr"/>
          <a:lstStyle/>
          <a:p>
            <a:pPr marL="0" indent="0" algn="ctr">
              <a:buNone/>
            </a:pPr>
            <a:r>
              <a:rPr lang="en-US" sz="2600" b="1" dirty="0">
                <a:solidFill>
                  <a:schemeClr val="bg1"/>
                </a:solidFill>
                <a:latin typeface="Arial" pitchFamily="34" charset="0"/>
                <a:ea typeface="Arial" pitchFamily="34" charset="-122"/>
                <a:cs typeface="Arial" pitchFamily="34" charset="-120"/>
              </a:rPr>
              <a:t>1</a:t>
            </a:r>
            <a:endParaRPr lang="en-US" sz="2600" dirty="0"/>
          </a:p>
        </p:txBody>
      </p:sp>
      <p:sp>
        <p:nvSpPr>
          <p:cNvPr id="5" name="Shape 3"/>
          <p:cNvSpPr/>
          <p:nvPr/>
        </p:nvSpPr>
        <p:spPr>
          <a:xfrm>
            <a:off x="1828800" y="1737360"/>
            <a:ext cx="1005840" cy="0"/>
          </a:xfrm>
          <a:prstGeom prst="line">
            <a:avLst/>
          </a:prstGeom>
          <a:noFill/>
          <a:ln w="25400">
            <a:solidFill>
              <a:schemeClr val="accent3"/>
            </a:solidFill>
            <a:prstDash val="solid"/>
            <a:tailEnd type="triangle"/>
          </a:ln>
        </p:spPr>
        <p:txBody>
          <a:bodyPr/>
          <a:lstStyle/>
          <a:p>
            <a:endParaRPr lang="en-US"/>
          </a:p>
        </p:txBody>
      </p:sp>
      <p:sp>
        <p:nvSpPr>
          <p:cNvPr id="6" name="Text 4"/>
          <p:cNvSpPr txBox="1"/>
          <p:nvPr/>
        </p:nvSpPr>
        <p:spPr>
          <a:xfrm>
            <a:off x="457200" y="2286000"/>
            <a:ext cx="1828800" cy="411480"/>
          </a:xfrm>
          <a:prstGeom prst="rect">
            <a:avLst/>
          </a:prstGeom>
          <a:noFill/>
          <a:ln/>
        </p:spPr>
        <p:txBody>
          <a:bodyPr wrap="square" lIns="0" tIns="0" rIns="0" bIns="0" rtlCol="0" anchor="ctr"/>
          <a:lstStyle/>
          <a:p>
            <a:pPr marL="0" indent="0" algn="ctr">
              <a:buNone/>
            </a:pPr>
            <a:r>
              <a:rPr lang="en-US" sz="2000" b="1" dirty="0">
                <a:solidFill>
                  <a:schemeClr val="tx2"/>
                </a:solidFill>
                <a:latin typeface="Arial" pitchFamily="34" charset="0"/>
                <a:ea typeface="Arial" pitchFamily="34" charset="-122"/>
                <a:cs typeface="Arial" pitchFamily="34" charset="-120"/>
              </a:rPr>
              <a:t>Describe</a:t>
            </a:r>
            <a:endParaRPr lang="en-US" sz="2000" dirty="0"/>
          </a:p>
        </p:txBody>
      </p:sp>
      <p:sp>
        <p:nvSpPr>
          <p:cNvPr id="7" name="Text 5"/>
          <p:cNvSpPr txBox="1"/>
          <p:nvPr/>
        </p:nvSpPr>
        <p:spPr>
          <a:xfrm>
            <a:off x="502920" y="2743200"/>
            <a:ext cx="1737360" cy="914400"/>
          </a:xfrm>
          <a:prstGeom prst="rect">
            <a:avLst/>
          </a:prstGeom>
          <a:noFill/>
          <a:ln/>
        </p:spPr>
        <p:txBody>
          <a:bodyPr wrap="square" lIns="0" tIns="0" rIns="0" bIns="0" rtlCol="0" anchor="t"/>
          <a:lstStyle/>
          <a:p>
            <a:pPr marL="0" indent="0" algn="ctr">
              <a:buNone/>
            </a:pPr>
            <a:r>
              <a:rPr lang="en-US" sz="1400" dirty="0">
                <a:solidFill>
                  <a:schemeClr val="tx1"/>
                </a:solidFill>
                <a:latin typeface="Arial" pitchFamily="34" charset="0"/>
                <a:ea typeface="Arial" pitchFamily="34" charset="-122"/>
                <a:cs typeface="Arial" pitchFamily="34" charset="-120"/>
              </a:rPr>
              <a:t>Guided steps in your own words, typed or spoken</a:t>
            </a:r>
            <a:endParaRPr lang="en-US" sz="1400" dirty="0"/>
          </a:p>
        </p:txBody>
      </p:sp>
      <p:sp>
        <p:nvSpPr>
          <p:cNvPr id="8" name="Shape 6"/>
          <p:cNvSpPr/>
          <p:nvPr/>
        </p:nvSpPr>
        <p:spPr>
          <a:xfrm>
            <a:off x="3108960" y="1371600"/>
            <a:ext cx="731520" cy="731520"/>
          </a:xfrm>
          <a:prstGeom prst="ellipse">
            <a:avLst/>
          </a:prstGeom>
          <a:solidFill>
            <a:schemeClr val="accent1"/>
          </a:solidFill>
          <a:ln/>
        </p:spPr>
        <p:txBody>
          <a:bodyPr/>
          <a:lstStyle/>
          <a:p>
            <a:endParaRPr lang="en-US"/>
          </a:p>
        </p:txBody>
      </p:sp>
      <p:sp>
        <p:nvSpPr>
          <p:cNvPr id="9" name="Text 7"/>
          <p:cNvSpPr txBox="1"/>
          <p:nvPr/>
        </p:nvSpPr>
        <p:spPr>
          <a:xfrm>
            <a:off x="3108960" y="1371600"/>
            <a:ext cx="731520" cy="731520"/>
          </a:xfrm>
          <a:prstGeom prst="rect">
            <a:avLst/>
          </a:prstGeom>
          <a:noFill/>
          <a:ln/>
        </p:spPr>
        <p:txBody>
          <a:bodyPr wrap="square" lIns="0" tIns="0" rIns="0" bIns="0" rtlCol="0" anchor="ctr"/>
          <a:lstStyle/>
          <a:p>
            <a:pPr marL="0" indent="0" algn="ctr">
              <a:buNone/>
            </a:pPr>
            <a:r>
              <a:rPr lang="en-US" sz="2600" b="1" dirty="0">
                <a:solidFill>
                  <a:schemeClr val="bg1"/>
                </a:solidFill>
                <a:latin typeface="Arial" pitchFamily="34" charset="0"/>
                <a:ea typeface="Arial" pitchFamily="34" charset="-122"/>
                <a:cs typeface="Arial" pitchFamily="34" charset="-120"/>
              </a:rPr>
              <a:t>2</a:t>
            </a:r>
            <a:endParaRPr lang="en-US" sz="2600" dirty="0"/>
          </a:p>
        </p:txBody>
      </p:sp>
      <p:sp>
        <p:nvSpPr>
          <p:cNvPr id="10" name="Shape 8"/>
          <p:cNvSpPr/>
          <p:nvPr/>
        </p:nvSpPr>
        <p:spPr>
          <a:xfrm>
            <a:off x="3931920" y="1737360"/>
            <a:ext cx="1005840" cy="0"/>
          </a:xfrm>
          <a:prstGeom prst="line">
            <a:avLst/>
          </a:prstGeom>
          <a:noFill/>
          <a:ln w="25400">
            <a:solidFill>
              <a:schemeClr val="accent3"/>
            </a:solidFill>
            <a:prstDash val="solid"/>
            <a:tailEnd type="triangle"/>
          </a:ln>
        </p:spPr>
        <p:txBody>
          <a:bodyPr/>
          <a:lstStyle/>
          <a:p>
            <a:endParaRPr lang="en-US"/>
          </a:p>
        </p:txBody>
      </p:sp>
      <p:sp>
        <p:nvSpPr>
          <p:cNvPr id="11" name="Text 9"/>
          <p:cNvSpPr txBox="1"/>
          <p:nvPr/>
        </p:nvSpPr>
        <p:spPr>
          <a:xfrm>
            <a:off x="2560320" y="2286000"/>
            <a:ext cx="1828800" cy="411480"/>
          </a:xfrm>
          <a:prstGeom prst="rect">
            <a:avLst/>
          </a:prstGeom>
          <a:noFill/>
          <a:ln/>
        </p:spPr>
        <p:txBody>
          <a:bodyPr wrap="square" lIns="0" tIns="0" rIns="0" bIns="0" rtlCol="0" anchor="ctr"/>
          <a:lstStyle/>
          <a:p>
            <a:pPr marL="0" indent="0" algn="ctr">
              <a:buNone/>
            </a:pPr>
            <a:r>
              <a:rPr lang="en-US" sz="2000" b="1" dirty="0">
                <a:solidFill>
                  <a:schemeClr val="tx2"/>
                </a:solidFill>
                <a:latin typeface="Arial" pitchFamily="34" charset="0"/>
                <a:ea typeface="Arial" pitchFamily="34" charset="-122"/>
                <a:cs typeface="Arial" pitchFamily="34" charset="-120"/>
              </a:rPr>
              <a:t>Check</a:t>
            </a:r>
            <a:endParaRPr lang="en-US" sz="2000" dirty="0"/>
          </a:p>
        </p:txBody>
      </p:sp>
      <p:sp>
        <p:nvSpPr>
          <p:cNvPr id="12" name="Text 10"/>
          <p:cNvSpPr txBox="1"/>
          <p:nvPr/>
        </p:nvSpPr>
        <p:spPr>
          <a:xfrm>
            <a:off x="2606040" y="2743200"/>
            <a:ext cx="1737360" cy="914400"/>
          </a:xfrm>
          <a:prstGeom prst="rect">
            <a:avLst/>
          </a:prstGeom>
          <a:noFill/>
          <a:ln/>
        </p:spPr>
        <p:txBody>
          <a:bodyPr wrap="square" lIns="0" tIns="0" rIns="0" bIns="0" rtlCol="0" anchor="t"/>
          <a:lstStyle/>
          <a:p>
            <a:pPr marL="0" indent="0" algn="ctr">
              <a:buNone/>
            </a:pPr>
            <a:r>
              <a:rPr lang="en-US" sz="1400" dirty="0">
                <a:solidFill>
                  <a:schemeClr val="tx1"/>
                </a:solidFill>
                <a:latin typeface="Arial" pitchFamily="34" charset="0"/>
                <a:ea typeface="Arial" pitchFamily="34" charset="-122"/>
                <a:cs typeface="Arial" pitchFamily="34" charset="-120"/>
              </a:rPr>
              <a:t>Confirm what was heard or read; up to 3 clarity questions</a:t>
            </a:r>
            <a:endParaRPr lang="en-US" sz="1400" dirty="0"/>
          </a:p>
        </p:txBody>
      </p:sp>
      <p:sp>
        <p:nvSpPr>
          <p:cNvPr id="13" name="Shape 11"/>
          <p:cNvSpPr/>
          <p:nvPr/>
        </p:nvSpPr>
        <p:spPr>
          <a:xfrm>
            <a:off x="5212080" y="1371600"/>
            <a:ext cx="731520" cy="731520"/>
          </a:xfrm>
          <a:prstGeom prst="ellipse">
            <a:avLst/>
          </a:prstGeom>
          <a:solidFill>
            <a:schemeClr val="accent1"/>
          </a:solidFill>
          <a:ln/>
        </p:spPr>
        <p:txBody>
          <a:bodyPr/>
          <a:lstStyle/>
          <a:p>
            <a:endParaRPr lang="en-US"/>
          </a:p>
        </p:txBody>
      </p:sp>
      <p:sp>
        <p:nvSpPr>
          <p:cNvPr id="14" name="Text 12"/>
          <p:cNvSpPr txBox="1"/>
          <p:nvPr/>
        </p:nvSpPr>
        <p:spPr>
          <a:xfrm>
            <a:off x="5212080" y="1371600"/>
            <a:ext cx="731520" cy="731520"/>
          </a:xfrm>
          <a:prstGeom prst="rect">
            <a:avLst/>
          </a:prstGeom>
          <a:noFill/>
          <a:ln/>
        </p:spPr>
        <p:txBody>
          <a:bodyPr wrap="square" lIns="0" tIns="0" rIns="0" bIns="0" rtlCol="0" anchor="ctr"/>
          <a:lstStyle/>
          <a:p>
            <a:pPr marL="0" indent="0" algn="ctr">
              <a:buNone/>
            </a:pPr>
            <a:r>
              <a:rPr lang="en-US" sz="2600" b="1" dirty="0">
                <a:solidFill>
                  <a:schemeClr val="bg1"/>
                </a:solidFill>
                <a:latin typeface="Arial" pitchFamily="34" charset="0"/>
                <a:ea typeface="Arial" pitchFamily="34" charset="-122"/>
                <a:cs typeface="Arial" pitchFamily="34" charset="-120"/>
              </a:rPr>
              <a:t>3</a:t>
            </a:r>
            <a:endParaRPr lang="en-US" sz="2600" dirty="0"/>
          </a:p>
        </p:txBody>
      </p:sp>
      <p:sp>
        <p:nvSpPr>
          <p:cNvPr id="15" name="Shape 13"/>
          <p:cNvSpPr/>
          <p:nvPr/>
        </p:nvSpPr>
        <p:spPr>
          <a:xfrm>
            <a:off x="6035040" y="1737360"/>
            <a:ext cx="1005840" cy="0"/>
          </a:xfrm>
          <a:prstGeom prst="line">
            <a:avLst/>
          </a:prstGeom>
          <a:noFill/>
          <a:ln w="25400">
            <a:solidFill>
              <a:schemeClr val="accent3"/>
            </a:solidFill>
            <a:prstDash val="solid"/>
            <a:tailEnd type="triangle"/>
          </a:ln>
        </p:spPr>
        <p:txBody>
          <a:bodyPr/>
          <a:lstStyle/>
          <a:p>
            <a:endParaRPr lang="en-US"/>
          </a:p>
        </p:txBody>
      </p:sp>
      <p:sp>
        <p:nvSpPr>
          <p:cNvPr id="16" name="Text 14"/>
          <p:cNvSpPr txBox="1"/>
          <p:nvPr/>
        </p:nvSpPr>
        <p:spPr>
          <a:xfrm>
            <a:off x="4663440" y="2286000"/>
            <a:ext cx="1828800" cy="411480"/>
          </a:xfrm>
          <a:prstGeom prst="rect">
            <a:avLst/>
          </a:prstGeom>
          <a:noFill/>
          <a:ln/>
        </p:spPr>
        <p:txBody>
          <a:bodyPr wrap="square" lIns="0" tIns="0" rIns="0" bIns="0" rtlCol="0" anchor="ctr"/>
          <a:lstStyle/>
          <a:p>
            <a:pPr marL="0" indent="0" algn="ctr">
              <a:buNone/>
            </a:pPr>
            <a:r>
              <a:rPr lang="en-US" sz="2000" b="1" dirty="0">
                <a:solidFill>
                  <a:schemeClr val="tx2"/>
                </a:solidFill>
                <a:latin typeface="Arial" pitchFamily="34" charset="0"/>
                <a:ea typeface="Arial" pitchFamily="34" charset="-122"/>
                <a:cs typeface="Arial" pitchFamily="34" charset="-120"/>
              </a:rPr>
              <a:t>Summarise</a:t>
            </a:r>
            <a:endParaRPr lang="en-US" sz="2000" dirty="0"/>
          </a:p>
        </p:txBody>
      </p:sp>
      <p:sp>
        <p:nvSpPr>
          <p:cNvPr id="17" name="Text 15"/>
          <p:cNvSpPr txBox="1"/>
          <p:nvPr/>
        </p:nvSpPr>
        <p:spPr>
          <a:xfrm>
            <a:off x="4709160" y="2743200"/>
            <a:ext cx="1737360" cy="914400"/>
          </a:xfrm>
          <a:prstGeom prst="rect">
            <a:avLst/>
          </a:prstGeom>
          <a:noFill/>
          <a:ln/>
        </p:spPr>
        <p:txBody>
          <a:bodyPr wrap="square" lIns="0" tIns="0" rIns="0" bIns="0" rtlCol="0" anchor="t"/>
          <a:lstStyle/>
          <a:p>
            <a:pPr marL="0" indent="0" algn="ctr">
              <a:buNone/>
            </a:pPr>
            <a:r>
              <a:rPr lang="en-US" sz="1400" dirty="0">
                <a:solidFill>
                  <a:schemeClr val="tx1"/>
                </a:solidFill>
                <a:latin typeface="Arial" pitchFamily="34" charset="0"/>
                <a:ea typeface="Arial" pitchFamily="34" charset="-122"/>
                <a:cs typeface="Arial" pitchFamily="34" charset="-120"/>
              </a:rPr>
              <a:t>Clinician English and your version, side by side</a:t>
            </a:r>
            <a:endParaRPr lang="en-US" sz="1400" dirty="0"/>
          </a:p>
        </p:txBody>
      </p:sp>
      <p:sp>
        <p:nvSpPr>
          <p:cNvPr id="18" name="Shape 16"/>
          <p:cNvSpPr/>
          <p:nvPr/>
        </p:nvSpPr>
        <p:spPr>
          <a:xfrm>
            <a:off x="7315200" y="1371600"/>
            <a:ext cx="731520" cy="731520"/>
          </a:xfrm>
          <a:prstGeom prst="ellipse">
            <a:avLst/>
          </a:prstGeom>
          <a:solidFill>
            <a:schemeClr val="accent1"/>
          </a:solidFill>
          <a:ln/>
        </p:spPr>
        <p:txBody>
          <a:bodyPr/>
          <a:lstStyle/>
          <a:p>
            <a:endParaRPr lang="en-US"/>
          </a:p>
        </p:txBody>
      </p:sp>
      <p:sp>
        <p:nvSpPr>
          <p:cNvPr id="19" name="Text 17"/>
          <p:cNvSpPr txBox="1"/>
          <p:nvPr/>
        </p:nvSpPr>
        <p:spPr>
          <a:xfrm>
            <a:off x="7315200" y="1371600"/>
            <a:ext cx="731520" cy="731520"/>
          </a:xfrm>
          <a:prstGeom prst="rect">
            <a:avLst/>
          </a:prstGeom>
          <a:noFill/>
          <a:ln/>
        </p:spPr>
        <p:txBody>
          <a:bodyPr wrap="square" lIns="0" tIns="0" rIns="0" bIns="0" rtlCol="0" anchor="ctr"/>
          <a:lstStyle/>
          <a:p>
            <a:pPr marL="0" indent="0" algn="ctr">
              <a:buNone/>
            </a:pPr>
            <a:r>
              <a:rPr lang="en-US" sz="2600" b="1" dirty="0">
                <a:solidFill>
                  <a:schemeClr val="bg1"/>
                </a:solidFill>
                <a:latin typeface="Arial" pitchFamily="34" charset="0"/>
                <a:ea typeface="Arial" pitchFamily="34" charset="-122"/>
                <a:cs typeface="Arial" pitchFamily="34" charset="-120"/>
              </a:rPr>
              <a:t>4</a:t>
            </a:r>
            <a:endParaRPr lang="en-US" sz="2600" dirty="0"/>
          </a:p>
        </p:txBody>
      </p:sp>
      <p:sp>
        <p:nvSpPr>
          <p:cNvPr id="20" name="Text 18"/>
          <p:cNvSpPr txBox="1"/>
          <p:nvPr/>
        </p:nvSpPr>
        <p:spPr>
          <a:xfrm>
            <a:off x="6766560" y="2286000"/>
            <a:ext cx="1828800" cy="411480"/>
          </a:xfrm>
          <a:prstGeom prst="rect">
            <a:avLst/>
          </a:prstGeom>
          <a:noFill/>
          <a:ln/>
        </p:spPr>
        <p:txBody>
          <a:bodyPr wrap="square" lIns="0" tIns="0" rIns="0" bIns="0" rtlCol="0" anchor="ctr"/>
          <a:lstStyle/>
          <a:p>
            <a:pPr marL="0" indent="0" algn="ctr">
              <a:buNone/>
            </a:pPr>
            <a:r>
              <a:rPr lang="en-US" sz="2000" b="1" dirty="0">
                <a:solidFill>
                  <a:schemeClr val="tx2"/>
                </a:solidFill>
                <a:latin typeface="Arial" pitchFamily="34" charset="0"/>
                <a:ea typeface="Arial" pitchFamily="34" charset="-122"/>
                <a:cs typeface="Arial" pitchFamily="34" charset="-120"/>
              </a:rPr>
              <a:t>Download</a:t>
            </a:r>
            <a:endParaRPr lang="en-US" sz="2000" dirty="0"/>
          </a:p>
        </p:txBody>
      </p:sp>
      <p:sp>
        <p:nvSpPr>
          <p:cNvPr id="21" name="Text 19"/>
          <p:cNvSpPr txBox="1"/>
          <p:nvPr/>
        </p:nvSpPr>
        <p:spPr>
          <a:xfrm>
            <a:off x="6812280" y="2743200"/>
            <a:ext cx="1737360" cy="914400"/>
          </a:xfrm>
          <a:prstGeom prst="rect">
            <a:avLst/>
          </a:prstGeom>
          <a:noFill/>
          <a:ln/>
        </p:spPr>
        <p:txBody>
          <a:bodyPr wrap="square" lIns="0" tIns="0" rIns="0" bIns="0" rtlCol="0" anchor="t"/>
          <a:lstStyle/>
          <a:p>
            <a:pPr marL="0" indent="0" algn="ctr">
              <a:buNone/>
            </a:pPr>
            <a:r>
              <a:rPr lang="en-US" sz="1400" dirty="0">
                <a:solidFill>
                  <a:schemeClr val="tx1"/>
                </a:solidFill>
                <a:latin typeface="Arial" pitchFamily="34" charset="0"/>
                <a:ea typeface="Arial" pitchFamily="34" charset="-122"/>
                <a:cs typeface="Arial" pitchFamily="34" charset="-120"/>
              </a:rPr>
              <a:t>Bilingual PDF with a QR code for clinician feedback</a:t>
            </a:r>
            <a:endParaRPr lang="en-US" sz="1400" dirty="0"/>
          </a:p>
        </p:txBody>
      </p:sp>
      <p:sp>
        <p:nvSpPr>
          <p:cNvPr id="22" name="Safety callout"/>
          <p:cNvSpPr/>
          <p:nvPr/>
        </p:nvSpPr>
        <p:spPr>
          <a:xfrm>
            <a:off x="457200" y="3931920"/>
            <a:ext cx="8229600" cy="594360"/>
          </a:xfrm>
          <a:prstGeom prst="roundRect">
            <a:avLst>
              <a:gd name="adj" fmla="val 12308"/>
            </a:avLst>
          </a:prstGeom>
          <a:solidFill>
            <a:schemeClr val="accent6">
              <a:alpha val="12000"/>
            </a:schemeClr>
          </a:solidFill>
          <a:ln w="12700">
            <a:solidFill>
              <a:schemeClr val="accent6"/>
            </a:solidFill>
            <a:prstDash val="solid"/>
          </a:ln>
        </p:spPr>
        <p:txBody>
          <a:bodyPr/>
          <a:lstStyle/>
          <a:p>
            <a:endParaRPr lang="en-US"/>
          </a:p>
        </p:txBody>
      </p:sp>
      <p:pic>
        <p:nvPicPr>
          <p:cNvPr id="23" name="Image 0" descr="preencoded.png"/>
          <p:cNvPicPr>
            <a:picLocks noChangeAspect="1"/>
          </p:cNvPicPr>
          <p:nvPr/>
        </p:nvPicPr>
        <p:blipFill>
          <a:blip r:embed="rId3"/>
          <a:stretch>
            <a:fillRect/>
          </a:stretch>
        </p:blipFill>
        <p:spPr>
          <a:xfrm>
            <a:off x="640080" y="4050792"/>
            <a:ext cx="365760" cy="365760"/>
          </a:xfrm>
          <a:prstGeom prst="rect">
            <a:avLst/>
          </a:prstGeom>
        </p:spPr>
      </p:pic>
      <p:sp>
        <p:nvSpPr>
          <p:cNvPr id="24" name="Text 21"/>
          <p:cNvSpPr txBox="1"/>
          <p:nvPr/>
        </p:nvSpPr>
        <p:spPr>
          <a:xfrm>
            <a:off x="1188720" y="3931920"/>
            <a:ext cx="7315200" cy="594360"/>
          </a:xfrm>
          <a:prstGeom prst="rect">
            <a:avLst/>
          </a:prstGeom>
          <a:noFill/>
          <a:ln/>
        </p:spPr>
        <p:txBody>
          <a:bodyPr wrap="square" lIns="0" tIns="0" rIns="0" bIns="0" rtlCol="0" anchor="ctr"/>
          <a:lstStyle/>
          <a:p>
            <a:pPr marL="0" indent="0">
              <a:buNone/>
            </a:pPr>
            <a:r>
              <a:rPr lang="en-US" sz="1500" b="1" dirty="0">
                <a:solidFill>
                  <a:schemeClr val="tx1"/>
                </a:solidFill>
                <a:latin typeface="Arial" pitchFamily="34" charset="0"/>
                <a:ea typeface="Arial" pitchFamily="34" charset="-122"/>
                <a:cs typeface="Arial" pitchFamily="34" charset="-120"/>
              </a:rPr>
              <a:t>Every input is screened first. Urgent signs show 999 or 111 guidance before anything else, and the result carries an urgent banner.</a:t>
            </a:r>
            <a:endParaRPr lang="en-US" sz="15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1"/>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046720" cy="731520"/>
          </a:xfrm>
          <a:prstGeom prst="rect">
            <a:avLst/>
          </a:prstGeom>
          <a:noFill/>
          <a:ln/>
        </p:spPr>
        <p:txBody>
          <a:bodyPr wrap="square" lIns="0" tIns="0" rIns="0" bIns="0" rtlCol="0"/>
          <a:lstStyle/>
          <a:p>
            <a:pPr marL="0" indent="0" algn="l">
              <a:buNone/>
            </a:pPr>
            <a:r>
              <a:rPr lang="en-US" sz="3600" b="1" dirty="0">
                <a:solidFill>
                  <a:schemeClr val="bg1"/>
                </a:solidFill>
              </a:rPr>
              <a:t>Demo</a:t>
            </a:r>
            <a:endParaRPr lang="en-US" sz="3600" dirty="0"/>
          </a:p>
        </p:txBody>
      </p:sp>
      <p:pic>
        <p:nvPicPr>
          <p:cNvPr id="3" name="Image 0" descr="preencoded.png"/>
          <p:cNvPicPr>
            <a:picLocks noChangeAspect="1"/>
          </p:cNvPicPr>
          <p:nvPr/>
        </p:nvPicPr>
        <p:blipFill>
          <a:blip r:embed="rId3"/>
          <a:stretch>
            <a:fillRect/>
          </a:stretch>
        </p:blipFill>
        <p:spPr>
          <a:xfrm>
            <a:off x="548640" y="1463040"/>
            <a:ext cx="822960" cy="822960"/>
          </a:xfrm>
          <a:prstGeom prst="rect">
            <a:avLst/>
          </a:prstGeom>
        </p:spPr>
      </p:pic>
      <p:sp>
        <p:nvSpPr>
          <p:cNvPr id="4" name="Text 1"/>
          <p:cNvSpPr txBox="1"/>
          <p:nvPr/>
        </p:nvSpPr>
        <p:spPr>
          <a:xfrm>
            <a:off x="1828800" y="1371600"/>
            <a:ext cx="6675120" cy="2103120"/>
          </a:xfrm>
          <a:prstGeom prst="rect">
            <a:avLst/>
          </a:prstGeom>
          <a:noFill/>
          <a:ln/>
        </p:spPr>
        <p:txBody>
          <a:bodyPr wrap="square" lIns="0" tIns="0" rIns="0" bIns="0" rtlCol="0" anchor="ctr"/>
          <a:lstStyle/>
          <a:p>
            <a:pPr marL="342900" indent="-342900">
              <a:spcAft>
                <a:spcPts val="1000"/>
              </a:spcAft>
              <a:buSzPct val="100000"/>
              <a:buFont typeface="+mj-lt"/>
              <a:buAutoNum type="arabicPeriod"/>
            </a:pPr>
            <a:r>
              <a:rPr lang="en-US" sz="1800" dirty="0">
                <a:solidFill>
                  <a:schemeClr val="bg1"/>
                </a:solidFill>
                <a:latin typeface="Arial" pitchFamily="34" charset="0"/>
                <a:ea typeface="Arial" pitchFamily="34" charset="-122"/>
                <a:cs typeface="Arial" pitchFamily="34" charset="-120"/>
              </a:rPr>
              <a:t>Marcia describes a recurring concern in Jamaican Patois</a:t>
            </a:r>
            <a:endParaRPr lang="en-US" sz="1800" dirty="0"/>
          </a:p>
          <a:p>
            <a:pPr marL="342900" indent="-342900">
              <a:spcAft>
                <a:spcPts val="1000"/>
              </a:spcAft>
              <a:buSzPct val="100000"/>
              <a:buFont typeface="+mj-lt"/>
              <a:buAutoNum type="arabicPeriod"/>
            </a:pPr>
            <a:r>
              <a:rPr lang="en-US" sz="1800" dirty="0">
                <a:solidFill>
                  <a:schemeClr val="bg1"/>
                </a:solidFill>
                <a:latin typeface="Arial" pitchFamily="34" charset="0"/>
                <a:ea typeface="Arial" pitchFamily="34" charset="-122"/>
                <a:cs typeface="Arial" pitchFamily="34" charset="-120"/>
              </a:rPr>
              <a:t>A clean English summary appears beside her own version</a:t>
            </a:r>
            <a:endParaRPr lang="en-US" sz="1800" dirty="0"/>
          </a:p>
          <a:p>
            <a:pPr marL="342900" indent="-342900">
              <a:spcAft>
                <a:spcPts val="1000"/>
              </a:spcAft>
              <a:buSzPct val="100000"/>
              <a:buFont typeface="+mj-lt"/>
              <a:buAutoNum type="arabicPeriod"/>
            </a:pPr>
            <a:r>
              <a:rPr lang="en-US" sz="1800" dirty="0">
                <a:solidFill>
                  <a:schemeClr val="bg1"/>
                </a:solidFill>
                <a:latin typeface="Arial" pitchFamily="34" charset="0"/>
                <a:ea typeface="Arial" pitchFamily="34" charset="-122"/>
                <a:cs typeface="Arial" pitchFamily="34" charset="-120"/>
              </a:rPr>
              <a:t>A red-flag input shows the urgent message first</a:t>
            </a:r>
            <a:endParaRPr lang="en-US" sz="1800" dirty="0"/>
          </a:p>
          <a:p>
            <a:pPr marL="342900" indent="-342900">
              <a:spcAft>
                <a:spcPts val="1000"/>
              </a:spcAft>
              <a:buSzPct val="100000"/>
              <a:buFont typeface="+mj-lt"/>
              <a:buAutoNum type="arabicPeriod"/>
            </a:pPr>
            <a:r>
              <a:rPr lang="en-US" sz="1800" dirty="0">
                <a:solidFill>
                  <a:schemeClr val="bg1"/>
                </a:solidFill>
                <a:latin typeface="Arial" pitchFamily="34" charset="0"/>
                <a:ea typeface="Arial" pitchFamily="34" charset="-122"/>
                <a:cs typeface="Arial" pitchFamily="34" charset="-120"/>
              </a:rPr>
              <a:t>An English GP letter is photographed and explained in Pidgin</a:t>
            </a:r>
            <a:endParaRPr lang="en-US" sz="1800" dirty="0"/>
          </a:p>
        </p:txBody>
      </p:sp>
      <p:sp>
        <p:nvSpPr>
          <p:cNvPr id="5" name="Text 2"/>
          <p:cNvSpPr txBox="1"/>
          <p:nvPr/>
        </p:nvSpPr>
        <p:spPr>
          <a:xfrm>
            <a:off x="1828800" y="4023360"/>
            <a:ext cx="6675120" cy="365760"/>
          </a:xfrm>
          <a:prstGeom prst="rect">
            <a:avLst/>
          </a:prstGeom>
          <a:noFill/>
          <a:ln/>
        </p:spPr>
        <p:txBody>
          <a:bodyPr wrap="square" lIns="0" tIns="0" rIns="0" bIns="0" rtlCol="0" anchor="ctr"/>
          <a:lstStyle/>
          <a:p>
            <a:pPr marL="0" indent="0">
              <a:buNone/>
            </a:pPr>
            <a:r>
              <a:rPr lang="en-US" sz="1300" dirty="0">
                <a:solidFill>
                  <a:schemeClr val="accent3"/>
                </a:solidFill>
                <a:latin typeface="Arial" pitchFamily="34" charset="0"/>
                <a:ea typeface="Arial" pitchFamily="34" charset="-122"/>
                <a:cs typeface="Arial" pitchFamily="34" charset="-120"/>
              </a:rPr>
              <a:t>Backup: [link or file name of recorded demo video]</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1"/>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rPr>
              <a:t>What we’re building: five epics</a:t>
            </a:r>
            <a:endParaRPr lang="en-US" sz="3200" dirty="0"/>
          </a:p>
        </p:txBody>
      </p:sp>
      <p:sp>
        <p:nvSpPr>
          <p:cNvPr id="3" name="Shape 1"/>
          <p:cNvSpPr/>
          <p:nvPr/>
        </p:nvSpPr>
        <p:spPr>
          <a:xfrm>
            <a:off x="457200" y="1188720"/>
            <a:ext cx="685800" cy="685800"/>
          </a:xfrm>
          <a:prstGeom prst="ellipse">
            <a:avLst/>
          </a:prstGeom>
          <a:solidFill>
            <a:schemeClr val="bg2"/>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630936" y="1362456"/>
            <a:ext cx="338328" cy="338328"/>
          </a:xfrm>
          <a:prstGeom prst="rect">
            <a:avLst/>
          </a:prstGeom>
        </p:spPr>
      </p:pic>
      <p:sp>
        <p:nvSpPr>
          <p:cNvPr id="5" name="Text 2"/>
          <p:cNvSpPr txBox="1"/>
          <p:nvPr/>
        </p:nvSpPr>
        <p:spPr>
          <a:xfrm>
            <a:off x="1325880" y="1170432"/>
            <a:ext cx="3108960" cy="365760"/>
          </a:xfrm>
          <a:prstGeom prst="rect">
            <a:avLst/>
          </a:prstGeom>
          <a:noFill/>
          <a:ln/>
        </p:spPr>
        <p:txBody>
          <a:bodyPr wrap="square" lIns="0" tIns="0" rIns="0" bIns="0" rtlCol="0" anchor="ctr"/>
          <a:lstStyle/>
          <a:p>
            <a:pPr marL="0" indent="0">
              <a:buNone/>
            </a:pPr>
            <a:r>
              <a:rPr lang="en-US" sz="1600" b="1" dirty="0">
                <a:solidFill>
                  <a:schemeClr val="tx2"/>
                </a:solidFill>
                <a:latin typeface="Arial" pitchFamily="34" charset="0"/>
                <a:ea typeface="Arial" pitchFamily="34" charset="-122"/>
                <a:cs typeface="Arial" pitchFamily="34" charset="-120"/>
              </a:rPr>
              <a:t>1  Prepare for my appointment</a:t>
            </a:r>
            <a:endParaRPr lang="en-US" sz="1600" dirty="0"/>
          </a:p>
        </p:txBody>
      </p:sp>
      <p:sp>
        <p:nvSpPr>
          <p:cNvPr id="6" name="Text 3"/>
          <p:cNvSpPr txBox="1"/>
          <p:nvPr/>
        </p:nvSpPr>
        <p:spPr>
          <a:xfrm>
            <a:off x="1325880" y="1536192"/>
            <a:ext cx="3108960" cy="685800"/>
          </a:xfrm>
          <a:prstGeom prst="rect">
            <a:avLst/>
          </a:prstGeom>
          <a:noFill/>
          <a:ln/>
        </p:spPr>
        <p:txBody>
          <a:bodyPr wrap="square" lIns="0" tIns="0" rIns="0" bIns="0" rtlCol="0" anchor="t"/>
          <a:lstStyle/>
          <a:p>
            <a:pPr marL="0" indent="0">
              <a:buNone/>
            </a:pPr>
            <a:r>
              <a:rPr lang="en-US" sz="1400" b="1" dirty="0">
                <a:solidFill>
                  <a:schemeClr val="accent1"/>
                </a:solidFill>
                <a:latin typeface="Arial" pitchFamily="34" charset="0"/>
                <a:ea typeface="Arial" pitchFamily="34" charset="-122"/>
                <a:cs typeface="Arial" pitchFamily="34" charset="-120"/>
              </a:rPr>
              <a:t>Journey  </a:t>
            </a:r>
            <a:r>
              <a:rPr lang="en-US" sz="1400" dirty="0">
                <a:solidFill>
                  <a:schemeClr val="tx1"/>
                </a:solidFill>
                <a:latin typeface="Arial" pitchFamily="34" charset="0"/>
                <a:ea typeface="Arial" pitchFamily="34" charset="-122"/>
                <a:cs typeface="Arial" pitchFamily="34" charset="-120"/>
              </a:rPr>
              <a:t>Guided steps into a clinician-ready summary</a:t>
            </a:r>
            <a:endParaRPr lang="en-US" sz="1400" dirty="0"/>
          </a:p>
        </p:txBody>
      </p:sp>
      <p:sp>
        <p:nvSpPr>
          <p:cNvPr id="7" name="Shape 4"/>
          <p:cNvSpPr/>
          <p:nvPr/>
        </p:nvSpPr>
        <p:spPr>
          <a:xfrm>
            <a:off x="4663440" y="1188720"/>
            <a:ext cx="685800" cy="685800"/>
          </a:xfrm>
          <a:prstGeom prst="ellipse">
            <a:avLst/>
          </a:prstGeom>
          <a:solidFill>
            <a:schemeClr val="bg2"/>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4837176" y="1362456"/>
            <a:ext cx="338328" cy="338328"/>
          </a:xfrm>
          <a:prstGeom prst="rect">
            <a:avLst/>
          </a:prstGeom>
        </p:spPr>
      </p:pic>
      <p:sp>
        <p:nvSpPr>
          <p:cNvPr id="9" name="Text 5"/>
          <p:cNvSpPr txBox="1"/>
          <p:nvPr/>
        </p:nvSpPr>
        <p:spPr>
          <a:xfrm>
            <a:off x="5532120" y="1170432"/>
            <a:ext cx="3108960" cy="365760"/>
          </a:xfrm>
          <a:prstGeom prst="rect">
            <a:avLst/>
          </a:prstGeom>
          <a:noFill/>
          <a:ln/>
        </p:spPr>
        <p:txBody>
          <a:bodyPr wrap="square" lIns="0" tIns="0" rIns="0" bIns="0" rtlCol="0" anchor="ctr"/>
          <a:lstStyle/>
          <a:p>
            <a:pPr marL="0" indent="0">
              <a:buNone/>
            </a:pPr>
            <a:r>
              <a:rPr lang="en-US" sz="1600" b="1" dirty="0">
                <a:solidFill>
                  <a:schemeClr val="tx2"/>
                </a:solidFill>
                <a:latin typeface="Arial" pitchFamily="34" charset="0"/>
                <a:ea typeface="Arial" pitchFamily="34" charset="-122"/>
                <a:cs typeface="Arial" pitchFamily="34" charset="-120"/>
              </a:rPr>
              <a:t>2  Understand what I was told</a:t>
            </a:r>
            <a:endParaRPr lang="en-US" sz="1600" dirty="0"/>
          </a:p>
        </p:txBody>
      </p:sp>
      <p:sp>
        <p:nvSpPr>
          <p:cNvPr id="10" name="Text 6"/>
          <p:cNvSpPr txBox="1"/>
          <p:nvPr/>
        </p:nvSpPr>
        <p:spPr>
          <a:xfrm>
            <a:off x="5532120" y="1536192"/>
            <a:ext cx="3108960" cy="685800"/>
          </a:xfrm>
          <a:prstGeom prst="rect">
            <a:avLst/>
          </a:prstGeom>
          <a:noFill/>
          <a:ln/>
        </p:spPr>
        <p:txBody>
          <a:bodyPr wrap="square" lIns="0" tIns="0" rIns="0" bIns="0" rtlCol="0" anchor="t"/>
          <a:lstStyle/>
          <a:p>
            <a:pPr marL="0" indent="0">
              <a:buNone/>
            </a:pPr>
            <a:r>
              <a:rPr lang="en-US" sz="1400" b="1" dirty="0">
                <a:solidFill>
                  <a:schemeClr val="accent1"/>
                </a:solidFill>
                <a:latin typeface="Arial" pitchFamily="34" charset="0"/>
                <a:ea typeface="Arial" pitchFamily="34" charset="-122"/>
                <a:cs typeface="Arial" pitchFamily="34" charset="-120"/>
              </a:rPr>
              <a:t>Journey  </a:t>
            </a:r>
            <a:r>
              <a:rPr lang="en-US" sz="1400" dirty="0">
                <a:solidFill>
                  <a:schemeClr val="tx1"/>
                </a:solidFill>
                <a:latin typeface="Arial" pitchFamily="34" charset="0"/>
                <a:ea typeface="Arial" pitchFamily="34" charset="-122"/>
                <a:cs typeface="Arial" pitchFamily="34" charset="-120"/>
              </a:rPr>
              <a:t>A photographed letter explained, every step quoted</a:t>
            </a:r>
            <a:endParaRPr lang="en-US" sz="1400" dirty="0"/>
          </a:p>
        </p:txBody>
      </p:sp>
      <p:sp>
        <p:nvSpPr>
          <p:cNvPr id="11" name="Shape 7"/>
          <p:cNvSpPr/>
          <p:nvPr/>
        </p:nvSpPr>
        <p:spPr>
          <a:xfrm>
            <a:off x="457200" y="2331720"/>
            <a:ext cx="685800" cy="685800"/>
          </a:xfrm>
          <a:prstGeom prst="ellipse">
            <a:avLst/>
          </a:prstGeom>
          <a:solidFill>
            <a:schemeClr val="bg2"/>
          </a:solidFill>
          <a:ln/>
        </p:spPr>
        <p:txBody>
          <a:bodyPr/>
          <a:lstStyle/>
          <a:p>
            <a:endParaRPr lang="en-US"/>
          </a:p>
        </p:txBody>
      </p:sp>
      <p:pic>
        <p:nvPicPr>
          <p:cNvPr id="12" name="Image 2" descr="preencoded.png"/>
          <p:cNvPicPr>
            <a:picLocks noChangeAspect="1"/>
          </p:cNvPicPr>
          <p:nvPr/>
        </p:nvPicPr>
        <p:blipFill>
          <a:blip r:embed="rId5"/>
          <a:stretch>
            <a:fillRect/>
          </a:stretch>
        </p:blipFill>
        <p:spPr>
          <a:xfrm>
            <a:off x="630936" y="2505456"/>
            <a:ext cx="338328" cy="338328"/>
          </a:xfrm>
          <a:prstGeom prst="rect">
            <a:avLst/>
          </a:prstGeom>
        </p:spPr>
      </p:pic>
      <p:sp>
        <p:nvSpPr>
          <p:cNvPr id="13" name="Text 8"/>
          <p:cNvSpPr txBox="1"/>
          <p:nvPr/>
        </p:nvSpPr>
        <p:spPr>
          <a:xfrm>
            <a:off x="1325880" y="2313432"/>
            <a:ext cx="3108960" cy="365760"/>
          </a:xfrm>
          <a:prstGeom prst="rect">
            <a:avLst/>
          </a:prstGeom>
          <a:noFill/>
          <a:ln/>
        </p:spPr>
        <p:txBody>
          <a:bodyPr wrap="square" lIns="0" tIns="0" rIns="0" bIns="0" rtlCol="0" anchor="ctr"/>
          <a:lstStyle/>
          <a:p>
            <a:pPr marL="0" indent="0">
              <a:buNone/>
            </a:pPr>
            <a:r>
              <a:rPr lang="en-US" sz="1600" b="1" dirty="0">
                <a:solidFill>
                  <a:schemeClr val="tx2"/>
                </a:solidFill>
                <a:latin typeface="Arial" pitchFamily="34" charset="0"/>
                <a:ea typeface="Arial" pitchFamily="34" charset="-122"/>
                <a:cs typeface="Arial" pitchFamily="34" charset="-120"/>
              </a:rPr>
              <a:t>3  Language and dialect engine</a:t>
            </a:r>
            <a:endParaRPr lang="en-US" sz="1600" dirty="0"/>
          </a:p>
        </p:txBody>
      </p:sp>
      <p:sp>
        <p:nvSpPr>
          <p:cNvPr id="14" name="Text 9"/>
          <p:cNvSpPr txBox="1"/>
          <p:nvPr/>
        </p:nvSpPr>
        <p:spPr>
          <a:xfrm>
            <a:off x="1325880" y="2679192"/>
            <a:ext cx="3108960" cy="685800"/>
          </a:xfrm>
          <a:prstGeom prst="rect">
            <a:avLst/>
          </a:prstGeom>
          <a:noFill/>
          <a:ln/>
        </p:spPr>
        <p:txBody>
          <a:bodyPr wrap="square" lIns="0" tIns="0" rIns="0" bIns="0" rtlCol="0" anchor="t"/>
          <a:lstStyle/>
          <a:p>
            <a:pPr marL="0" indent="0">
              <a:buNone/>
            </a:pPr>
            <a:r>
              <a:rPr lang="en-US" sz="1400" b="1" dirty="0">
                <a:solidFill>
                  <a:schemeClr val="accent1"/>
                </a:solidFill>
                <a:latin typeface="Arial" pitchFamily="34" charset="0"/>
                <a:ea typeface="Arial" pitchFamily="34" charset="-122"/>
                <a:cs typeface="Arial" pitchFamily="34" charset="-120"/>
              </a:rPr>
              <a:t>Shared  </a:t>
            </a:r>
            <a:r>
              <a:rPr lang="en-US" sz="1400" dirty="0">
                <a:solidFill>
                  <a:schemeClr val="tx1"/>
                </a:solidFill>
                <a:latin typeface="Arial" pitchFamily="34" charset="0"/>
                <a:ea typeface="Arial" pitchFamily="34" charset="-122"/>
                <a:cs typeface="Arial" pitchFamily="34" charset="-120"/>
              </a:rPr>
              <a:t>Any language or dialect, clean English for clinicians</a:t>
            </a:r>
            <a:endParaRPr lang="en-US" sz="1400" dirty="0"/>
          </a:p>
        </p:txBody>
      </p:sp>
      <p:sp>
        <p:nvSpPr>
          <p:cNvPr id="15" name="Shape 10"/>
          <p:cNvSpPr/>
          <p:nvPr/>
        </p:nvSpPr>
        <p:spPr>
          <a:xfrm>
            <a:off x="4663440" y="2331720"/>
            <a:ext cx="685800" cy="685800"/>
          </a:xfrm>
          <a:prstGeom prst="ellipse">
            <a:avLst/>
          </a:prstGeom>
          <a:solidFill>
            <a:schemeClr val="bg2"/>
          </a:solidFill>
          <a:ln/>
        </p:spPr>
        <p:txBody>
          <a:bodyPr/>
          <a:lstStyle/>
          <a:p>
            <a:endParaRPr lang="en-US"/>
          </a:p>
        </p:txBody>
      </p:sp>
      <p:pic>
        <p:nvPicPr>
          <p:cNvPr id="16" name="Image 3" descr="preencoded.png"/>
          <p:cNvPicPr>
            <a:picLocks noChangeAspect="1"/>
          </p:cNvPicPr>
          <p:nvPr/>
        </p:nvPicPr>
        <p:blipFill>
          <a:blip r:embed="rId6"/>
          <a:stretch>
            <a:fillRect/>
          </a:stretch>
        </p:blipFill>
        <p:spPr>
          <a:xfrm>
            <a:off x="4837176" y="2505456"/>
            <a:ext cx="338328" cy="338328"/>
          </a:xfrm>
          <a:prstGeom prst="rect">
            <a:avLst/>
          </a:prstGeom>
        </p:spPr>
      </p:pic>
      <p:sp>
        <p:nvSpPr>
          <p:cNvPr id="17" name="Text 11"/>
          <p:cNvSpPr txBox="1"/>
          <p:nvPr/>
        </p:nvSpPr>
        <p:spPr>
          <a:xfrm>
            <a:off x="5532120" y="2313432"/>
            <a:ext cx="3108960" cy="365760"/>
          </a:xfrm>
          <a:prstGeom prst="rect">
            <a:avLst/>
          </a:prstGeom>
          <a:noFill/>
          <a:ln/>
        </p:spPr>
        <p:txBody>
          <a:bodyPr wrap="square" lIns="0" tIns="0" rIns="0" bIns="0" rtlCol="0" anchor="ctr"/>
          <a:lstStyle/>
          <a:p>
            <a:pPr marL="0" indent="0">
              <a:buNone/>
            </a:pPr>
            <a:r>
              <a:rPr lang="en-US" sz="1600" b="1" dirty="0">
                <a:solidFill>
                  <a:schemeClr val="tx2"/>
                </a:solidFill>
                <a:latin typeface="Arial" pitchFamily="34" charset="0"/>
                <a:ea typeface="Arial" pitchFamily="34" charset="-122"/>
                <a:cs typeface="Arial" pitchFamily="34" charset="-120"/>
              </a:rPr>
              <a:t>4  Safety gate</a:t>
            </a:r>
            <a:endParaRPr lang="en-US" sz="1600" dirty="0"/>
          </a:p>
        </p:txBody>
      </p:sp>
      <p:sp>
        <p:nvSpPr>
          <p:cNvPr id="18" name="Text 12"/>
          <p:cNvSpPr txBox="1"/>
          <p:nvPr/>
        </p:nvSpPr>
        <p:spPr>
          <a:xfrm>
            <a:off x="5532120" y="2679192"/>
            <a:ext cx="3108960" cy="685800"/>
          </a:xfrm>
          <a:prstGeom prst="rect">
            <a:avLst/>
          </a:prstGeom>
          <a:noFill/>
          <a:ln/>
        </p:spPr>
        <p:txBody>
          <a:bodyPr wrap="square" lIns="0" tIns="0" rIns="0" bIns="0" rtlCol="0" anchor="t"/>
          <a:lstStyle/>
          <a:p>
            <a:pPr marL="0" indent="0">
              <a:buNone/>
            </a:pPr>
            <a:r>
              <a:rPr lang="en-US" sz="1400" b="1" dirty="0">
                <a:solidFill>
                  <a:schemeClr val="accent1"/>
                </a:solidFill>
                <a:latin typeface="Arial" pitchFamily="34" charset="0"/>
                <a:ea typeface="Arial" pitchFamily="34" charset="-122"/>
                <a:cs typeface="Arial" pitchFamily="34" charset="-120"/>
              </a:rPr>
              <a:t>Shared  </a:t>
            </a:r>
            <a:r>
              <a:rPr lang="en-US" sz="1400" dirty="0">
                <a:solidFill>
                  <a:schemeClr val="tx1"/>
                </a:solidFill>
                <a:latin typeface="Arial" pitchFamily="34" charset="0"/>
                <a:ea typeface="Arial" pitchFamily="34" charset="-122"/>
                <a:cs typeface="Arial" pitchFamily="34" charset="-120"/>
              </a:rPr>
              <a:t>Every input screened before anything is shown</a:t>
            </a:r>
            <a:endParaRPr lang="en-US" sz="1400" dirty="0"/>
          </a:p>
        </p:txBody>
      </p:sp>
      <p:sp>
        <p:nvSpPr>
          <p:cNvPr id="19" name="Shape 13"/>
          <p:cNvSpPr/>
          <p:nvPr/>
        </p:nvSpPr>
        <p:spPr>
          <a:xfrm>
            <a:off x="457200" y="3474720"/>
            <a:ext cx="685800" cy="685800"/>
          </a:xfrm>
          <a:prstGeom prst="ellipse">
            <a:avLst/>
          </a:prstGeom>
          <a:solidFill>
            <a:schemeClr val="bg2"/>
          </a:solidFill>
          <a:ln/>
        </p:spPr>
        <p:txBody>
          <a:bodyPr/>
          <a:lstStyle/>
          <a:p>
            <a:endParaRPr lang="en-US"/>
          </a:p>
        </p:txBody>
      </p:sp>
      <p:pic>
        <p:nvPicPr>
          <p:cNvPr id="20" name="Image 4" descr="preencoded.png"/>
          <p:cNvPicPr>
            <a:picLocks noChangeAspect="1"/>
          </p:cNvPicPr>
          <p:nvPr/>
        </p:nvPicPr>
        <p:blipFill>
          <a:blip r:embed="rId7"/>
          <a:stretch>
            <a:fillRect/>
          </a:stretch>
        </p:blipFill>
        <p:spPr>
          <a:xfrm>
            <a:off x="630936" y="3648456"/>
            <a:ext cx="338328" cy="338328"/>
          </a:xfrm>
          <a:prstGeom prst="rect">
            <a:avLst/>
          </a:prstGeom>
        </p:spPr>
      </p:pic>
      <p:sp>
        <p:nvSpPr>
          <p:cNvPr id="21" name="Text 14"/>
          <p:cNvSpPr txBox="1"/>
          <p:nvPr/>
        </p:nvSpPr>
        <p:spPr>
          <a:xfrm>
            <a:off x="1325880" y="3456432"/>
            <a:ext cx="3108960" cy="365760"/>
          </a:xfrm>
          <a:prstGeom prst="rect">
            <a:avLst/>
          </a:prstGeom>
          <a:noFill/>
          <a:ln/>
        </p:spPr>
        <p:txBody>
          <a:bodyPr wrap="square" lIns="0" tIns="0" rIns="0" bIns="0" rtlCol="0" anchor="ctr"/>
          <a:lstStyle/>
          <a:p>
            <a:pPr marL="0" indent="0">
              <a:buNone/>
            </a:pPr>
            <a:r>
              <a:rPr lang="en-US" sz="1600" b="1" dirty="0">
                <a:solidFill>
                  <a:schemeClr val="tx2"/>
                </a:solidFill>
                <a:latin typeface="Arial" pitchFamily="34" charset="0"/>
                <a:ea typeface="Arial" pitchFamily="34" charset="-122"/>
                <a:cs typeface="Arial" pitchFamily="34" charset="-120"/>
              </a:rPr>
              <a:t>5  Trust, access and operations</a:t>
            </a:r>
            <a:endParaRPr lang="en-US" sz="1600" dirty="0"/>
          </a:p>
        </p:txBody>
      </p:sp>
      <p:sp>
        <p:nvSpPr>
          <p:cNvPr id="22" name="Text 15"/>
          <p:cNvSpPr txBox="1"/>
          <p:nvPr/>
        </p:nvSpPr>
        <p:spPr>
          <a:xfrm>
            <a:off x="1325880" y="3822192"/>
            <a:ext cx="3108960" cy="685800"/>
          </a:xfrm>
          <a:prstGeom prst="rect">
            <a:avLst/>
          </a:prstGeom>
          <a:noFill/>
          <a:ln/>
        </p:spPr>
        <p:txBody>
          <a:bodyPr wrap="square" lIns="0" tIns="0" rIns="0" bIns="0" rtlCol="0" anchor="t"/>
          <a:lstStyle/>
          <a:p>
            <a:pPr marL="0" indent="0">
              <a:buNone/>
            </a:pPr>
            <a:r>
              <a:rPr lang="en-US" sz="1400" b="1" dirty="0">
                <a:solidFill>
                  <a:schemeClr val="accent1"/>
                </a:solidFill>
                <a:latin typeface="Arial" pitchFamily="34" charset="0"/>
                <a:ea typeface="Arial" pitchFamily="34" charset="-122"/>
                <a:cs typeface="Arial" pitchFamily="34" charset="-120"/>
              </a:rPr>
              <a:t>Shared  </a:t>
            </a:r>
            <a:r>
              <a:rPr lang="en-US" sz="1400" dirty="0">
                <a:solidFill>
                  <a:schemeClr val="tx1"/>
                </a:solidFill>
                <a:latin typeface="Arial" pitchFamily="34" charset="0"/>
                <a:ea typeface="Arial" pitchFamily="34" charset="-122"/>
                <a:cs typeface="Arial" pitchFamily="34" charset="-120"/>
              </a:rPr>
              <a:t>Guest-first privacy, spend cap and feedback</a:t>
            </a:r>
            <a:endParaRPr lang="en-US" sz="1400" dirty="0"/>
          </a:p>
        </p:txBody>
      </p:sp>
      <p:sp>
        <p:nvSpPr>
          <p:cNvPr id="23" name="Shape 16"/>
          <p:cNvSpPr/>
          <p:nvPr/>
        </p:nvSpPr>
        <p:spPr>
          <a:xfrm>
            <a:off x="4663440" y="3474720"/>
            <a:ext cx="685800" cy="685800"/>
          </a:xfrm>
          <a:prstGeom prst="ellipse">
            <a:avLst/>
          </a:prstGeom>
          <a:solidFill>
            <a:schemeClr val="bg2"/>
          </a:solidFill>
          <a:ln/>
        </p:spPr>
        <p:txBody>
          <a:bodyPr/>
          <a:lstStyle/>
          <a:p>
            <a:endParaRPr lang="en-US"/>
          </a:p>
        </p:txBody>
      </p:sp>
      <p:pic>
        <p:nvPicPr>
          <p:cNvPr id="24" name="Image 5" descr="preencoded.png"/>
          <p:cNvPicPr>
            <a:picLocks noChangeAspect="1"/>
          </p:cNvPicPr>
          <p:nvPr/>
        </p:nvPicPr>
        <p:blipFill>
          <a:blip r:embed="rId8"/>
          <a:stretch>
            <a:fillRect/>
          </a:stretch>
        </p:blipFill>
        <p:spPr>
          <a:xfrm>
            <a:off x="4837176" y="3648456"/>
            <a:ext cx="338328" cy="338328"/>
          </a:xfrm>
          <a:prstGeom prst="rect">
            <a:avLst/>
          </a:prstGeom>
        </p:spPr>
      </p:pic>
      <p:sp>
        <p:nvSpPr>
          <p:cNvPr id="25" name="Text 17"/>
          <p:cNvSpPr txBox="1"/>
          <p:nvPr/>
        </p:nvSpPr>
        <p:spPr>
          <a:xfrm>
            <a:off x="5532120" y="3456432"/>
            <a:ext cx="3108960" cy="365760"/>
          </a:xfrm>
          <a:prstGeom prst="rect">
            <a:avLst/>
          </a:prstGeom>
          <a:noFill/>
          <a:ln/>
        </p:spPr>
        <p:txBody>
          <a:bodyPr wrap="square" lIns="0" tIns="0" rIns="0" bIns="0" rtlCol="0" anchor="ctr"/>
          <a:lstStyle/>
          <a:p>
            <a:pPr marL="0" indent="0">
              <a:buNone/>
            </a:pPr>
            <a:r>
              <a:rPr lang="en-US" sz="1600" b="1" dirty="0">
                <a:solidFill>
                  <a:schemeClr val="tx2"/>
                </a:solidFill>
                <a:latin typeface="Arial" pitchFamily="34" charset="0"/>
                <a:ea typeface="Arial" pitchFamily="34" charset="-122"/>
                <a:cs typeface="Arial" pitchFamily="34" charset="-120"/>
              </a:rPr>
              <a:t>Later, not in this build</a:t>
            </a:r>
            <a:endParaRPr lang="en-US" sz="1600" dirty="0"/>
          </a:p>
        </p:txBody>
      </p:sp>
      <p:sp>
        <p:nvSpPr>
          <p:cNvPr id="26" name="Text 18"/>
          <p:cNvSpPr txBox="1"/>
          <p:nvPr/>
        </p:nvSpPr>
        <p:spPr>
          <a:xfrm>
            <a:off x="5532120" y="3822192"/>
            <a:ext cx="3108960" cy="685800"/>
          </a:xfrm>
          <a:prstGeom prst="rect">
            <a:avLst/>
          </a:prstGeom>
          <a:noFill/>
          <a:ln/>
        </p:spPr>
        <p:txBody>
          <a:bodyPr wrap="square" lIns="0" tIns="0" rIns="0" bIns="0" rtlCol="0" anchor="t"/>
          <a:lstStyle/>
          <a:p>
            <a:pPr marL="0" indent="0">
              <a:buNone/>
            </a:pPr>
            <a:r>
              <a:rPr lang="en-US" sz="1400" dirty="0">
                <a:solidFill>
                  <a:schemeClr val="tx1"/>
                </a:solidFill>
                <a:latin typeface="Arial" pitchFamily="34" charset="0"/>
                <a:ea typeface="Arial" pitchFamily="34" charset="-122"/>
                <a:cs typeface="Arial" pitchFamily="34" charset="-120"/>
              </a:rPr>
              <a:t>Symptom timeline, share links, social login, NHS integration</a:t>
            </a:r>
            <a:endParaRPr lang="en-US" sz="1400" dirty="0"/>
          </a:p>
        </p:txBody>
      </p:sp>
      <p:sp>
        <p:nvSpPr>
          <p:cNvPr id="27"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1"/>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rPr>
              <a:t>Safe by design</a:t>
            </a:r>
            <a:endParaRPr lang="en-US" sz="3200" dirty="0"/>
          </a:p>
        </p:txBody>
      </p:sp>
      <p:sp>
        <p:nvSpPr>
          <p:cNvPr id="3" name="Safety card 1"/>
          <p:cNvSpPr/>
          <p:nvPr/>
        </p:nvSpPr>
        <p:spPr>
          <a:xfrm>
            <a:off x="457200" y="1188720"/>
            <a:ext cx="4023360" cy="1463040"/>
          </a:xfrm>
          <a:prstGeom prst="roundRect">
            <a:avLst>
              <a:gd name="adj" fmla="val 6250"/>
            </a:avLst>
          </a:prstGeom>
          <a:solidFill>
            <a:schemeClr val="bg2"/>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685800" y="1444752"/>
            <a:ext cx="411480" cy="411480"/>
          </a:xfrm>
          <a:prstGeom prst="rect">
            <a:avLst/>
          </a:prstGeom>
        </p:spPr>
      </p:pic>
      <p:sp>
        <p:nvSpPr>
          <p:cNvPr id="5" name="Text 2"/>
          <p:cNvSpPr txBox="1"/>
          <p:nvPr/>
        </p:nvSpPr>
        <p:spPr>
          <a:xfrm>
            <a:off x="1280160" y="1417320"/>
            <a:ext cx="3017520" cy="411480"/>
          </a:xfrm>
          <a:prstGeom prst="rect">
            <a:avLst/>
          </a:prstGeom>
          <a:noFill/>
          <a:ln/>
        </p:spPr>
        <p:txBody>
          <a:bodyPr wrap="square" lIns="0" tIns="0" rIns="0" bIns="0" rtlCol="0" anchor="ctr"/>
          <a:lstStyle/>
          <a:p>
            <a:pPr marL="0" indent="0">
              <a:buNone/>
            </a:pPr>
            <a:r>
              <a:rPr lang="en-US" sz="1700" b="1" dirty="0">
                <a:solidFill>
                  <a:schemeClr val="tx2"/>
                </a:solidFill>
                <a:latin typeface="Arial" pitchFamily="34" charset="0"/>
                <a:ea typeface="Arial" pitchFamily="34" charset="-122"/>
                <a:cs typeface="Arial" pitchFamily="34" charset="-120"/>
              </a:rPr>
              <a:t>No diagnosis</a:t>
            </a:r>
            <a:endParaRPr lang="en-US" sz="1700" dirty="0"/>
          </a:p>
        </p:txBody>
      </p:sp>
      <p:sp>
        <p:nvSpPr>
          <p:cNvPr id="6" name="Text 3"/>
          <p:cNvSpPr txBox="1"/>
          <p:nvPr/>
        </p:nvSpPr>
        <p:spPr>
          <a:xfrm>
            <a:off x="1280160" y="1847088"/>
            <a:ext cx="3017520" cy="685800"/>
          </a:xfrm>
          <a:prstGeom prst="rect">
            <a:avLst/>
          </a:prstGeom>
          <a:noFill/>
          <a:ln/>
        </p:spPr>
        <p:txBody>
          <a:bodyPr wrap="square" lIns="0" tIns="0" rIns="0" bIns="0" rtlCol="0" anchor="t"/>
          <a:lstStyle/>
          <a:p>
            <a:pPr marL="0" indent="0">
              <a:buNone/>
            </a:pPr>
            <a:r>
              <a:rPr lang="en-US" sz="1400" dirty="0">
                <a:solidFill>
                  <a:schemeClr val="tx1"/>
                </a:solidFill>
                <a:latin typeface="Arial" pitchFamily="34" charset="0"/>
                <a:ea typeface="Arial" pitchFamily="34" charset="-122"/>
                <a:cs typeface="Arial" pitchFamily="34" charset="-120"/>
              </a:rPr>
              <a:t>It only restates what the user or clinician said. Clinical decisions stay with clinicians.</a:t>
            </a:r>
            <a:endParaRPr lang="en-US" sz="1400" dirty="0"/>
          </a:p>
        </p:txBody>
      </p:sp>
      <p:sp>
        <p:nvSpPr>
          <p:cNvPr id="7" name="Safety card 2"/>
          <p:cNvSpPr/>
          <p:nvPr/>
        </p:nvSpPr>
        <p:spPr>
          <a:xfrm>
            <a:off x="4663440" y="1188720"/>
            <a:ext cx="4023360" cy="1463040"/>
          </a:xfrm>
          <a:prstGeom prst="roundRect">
            <a:avLst>
              <a:gd name="adj" fmla="val 6250"/>
            </a:avLst>
          </a:prstGeom>
          <a:solidFill>
            <a:schemeClr val="bg2"/>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4892040" y="1444752"/>
            <a:ext cx="411480" cy="411480"/>
          </a:xfrm>
          <a:prstGeom prst="rect">
            <a:avLst/>
          </a:prstGeom>
        </p:spPr>
      </p:pic>
      <p:sp>
        <p:nvSpPr>
          <p:cNvPr id="9" name="Text 5"/>
          <p:cNvSpPr txBox="1"/>
          <p:nvPr/>
        </p:nvSpPr>
        <p:spPr>
          <a:xfrm>
            <a:off x="5486400" y="1417320"/>
            <a:ext cx="3017520" cy="411480"/>
          </a:xfrm>
          <a:prstGeom prst="rect">
            <a:avLst/>
          </a:prstGeom>
          <a:noFill/>
          <a:ln/>
        </p:spPr>
        <p:txBody>
          <a:bodyPr wrap="square" lIns="0" tIns="0" rIns="0" bIns="0" rtlCol="0" anchor="ctr"/>
          <a:lstStyle/>
          <a:p>
            <a:pPr marL="0" indent="0">
              <a:buNone/>
            </a:pPr>
            <a:r>
              <a:rPr lang="en-US" sz="1700" b="1" dirty="0">
                <a:solidFill>
                  <a:schemeClr val="tx2"/>
                </a:solidFill>
                <a:latin typeface="Arial" pitchFamily="34" charset="0"/>
                <a:ea typeface="Arial" pitchFamily="34" charset="-122"/>
                <a:cs typeface="Arial" pitchFamily="34" charset="-120"/>
              </a:rPr>
              <a:t>Urgency first</a:t>
            </a:r>
            <a:endParaRPr lang="en-US" sz="1700" dirty="0"/>
          </a:p>
        </p:txBody>
      </p:sp>
      <p:sp>
        <p:nvSpPr>
          <p:cNvPr id="10" name="Text 6"/>
          <p:cNvSpPr txBox="1"/>
          <p:nvPr/>
        </p:nvSpPr>
        <p:spPr>
          <a:xfrm>
            <a:off x="5486400" y="1847088"/>
            <a:ext cx="3017520" cy="685800"/>
          </a:xfrm>
          <a:prstGeom prst="rect">
            <a:avLst/>
          </a:prstGeom>
          <a:noFill/>
          <a:ln/>
        </p:spPr>
        <p:txBody>
          <a:bodyPr wrap="square" lIns="0" tIns="0" rIns="0" bIns="0" rtlCol="0" anchor="t"/>
          <a:lstStyle/>
          <a:p>
            <a:pPr marL="0" indent="0">
              <a:buNone/>
            </a:pPr>
            <a:r>
              <a:rPr lang="en-US" sz="1400" dirty="0">
                <a:solidFill>
                  <a:schemeClr val="tx1"/>
                </a:solidFill>
                <a:latin typeface="Arial" pitchFamily="34" charset="0"/>
                <a:ea typeface="Arial" pitchFamily="34" charset="-122"/>
                <a:cs typeface="Arial" pitchFamily="34" charset="-120"/>
              </a:rPr>
              <a:t>Every input is screened first. Urgent signs show 999, 111 or Samaritans before anything else.</a:t>
            </a:r>
            <a:endParaRPr lang="en-US" sz="1400" dirty="0"/>
          </a:p>
        </p:txBody>
      </p:sp>
      <p:sp>
        <p:nvSpPr>
          <p:cNvPr id="11" name="Safety card 3"/>
          <p:cNvSpPr/>
          <p:nvPr/>
        </p:nvSpPr>
        <p:spPr>
          <a:xfrm>
            <a:off x="457200" y="2880360"/>
            <a:ext cx="4023360" cy="1463040"/>
          </a:xfrm>
          <a:prstGeom prst="roundRect">
            <a:avLst>
              <a:gd name="adj" fmla="val 6250"/>
            </a:avLst>
          </a:prstGeom>
          <a:solidFill>
            <a:schemeClr val="bg2"/>
          </a:solidFill>
          <a:ln/>
        </p:spPr>
        <p:txBody>
          <a:bodyPr/>
          <a:lstStyle/>
          <a:p>
            <a:endParaRPr lang="en-US"/>
          </a:p>
        </p:txBody>
      </p:sp>
      <p:pic>
        <p:nvPicPr>
          <p:cNvPr id="12" name="Image 2" descr="preencoded.png"/>
          <p:cNvPicPr>
            <a:picLocks noChangeAspect="1"/>
          </p:cNvPicPr>
          <p:nvPr/>
        </p:nvPicPr>
        <p:blipFill>
          <a:blip r:embed="rId5"/>
          <a:stretch>
            <a:fillRect/>
          </a:stretch>
        </p:blipFill>
        <p:spPr>
          <a:xfrm>
            <a:off x="685800" y="3136392"/>
            <a:ext cx="411480" cy="411480"/>
          </a:xfrm>
          <a:prstGeom prst="rect">
            <a:avLst/>
          </a:prstGeom>
        </p:spPr>
      </p:pic>
      <p:sp>
        <p:nvSpPr>
          <p:cNvPr id="13" name="Text 8"/>
          <p:cNvSpPr txBox="1"/>
          <p:nvPr/>
        </p:nvSpPr>
        <p:spPr>
          <a:xfrm>
            <a:off x="1280160" y="3108960"/>
            <a:ext cx="3017520" cy="411480"/>
          </a:xfrm>
          <a:prstGeom prst="rect">
            <a:avLst/>
          </a:prstGeom>
          <a:noFill/>
          <a:ln/>
        </p:spPr>
        <p:txBody>
          <a:bodyPr wrap="square" lIns="0" tIns="0" rIns="0" bIns="0" rtlCol="0" anchor="ctr"/>
          <a:lstStyle/>
          <a:p>
            <a:pPr marL="0" indent="0">
              <a:buNone/>
            </a:pPr>
            <a:r>
              <a:rPr lang="en-US" sz="1700" b="1" dirty="0">
                <a:solidFill>
                  <a:schemeClr val="tx2"/>
                </a:solidFill>
                <a:latin typeface="Arial" pitchFamily="34" charset="0"/>
                <a:ea typeface="Arial" pitchFamily="34" charset="-122"/>
                <a:cs typeface="Arial" pitchFamily="34" charset="-120"/>
              </a:rPr>
              <a:t>Privacy first</a:t>
            </a:r>
            <a:endParaRPr lang="en-US" sz="1700" dirty="0"/>
          </a:p>
        </p:txBody>
      </p:sp>
      <p:sp>
        <p:nvSpPr>
          <p:cNvPr id="14" name="Text 9"/>
          <p:cNvSpPr txBox="1"/>
          <p:nvPr/>
        </p:nvSpPr>
        <p:spPr>
          <a:xfrm>
            <a:off x="1280160" y="3538728"/>
            <a:ext cx="3017520" cy="685800"/>
          </a:xfrm>
          <a:prstGeom prst="rect">
            <a:avLst/>
          </a:prstGeom>
          <a:noFill/>
          <a:ln/>
        </p:spPr>
        <p:txBody>
          <a:bodyPr wrap="square" lIns="0" tIns="0" rIns="0" bIns="0" rtlCol="0" anchor="t"/>
          <a:lstStyle/>
          <a:p>
            <a:pPr marL="0" indent="0">
              <a:buNone/>
            </a:pPr>
            <a:r>
              <a:rPr lang="en-US" sz="1400" dirty="0">
                <a:solidFill>
                  <a:schemeClr val="tx1"/>
                </a:solidFill>
                <a:latin typeface="Arial" pitchFamily="34" charset="0"/>
                <a:ea typeface="Arial" pitchFamily="34" charset="-122"/>
                <a:cs typeface="Arial" pitchFamily="34" charset="-120"/>
              </a:rPr>
              <a:t>No account needed and nothing stored for guests. AI processing is disclosed up front.</a:t>
            </a:r>
            <a:endParaRPr lang="en-US" sz="1400" dirty="0"/>
          </a:p>
        </p:txBody>
      </p:sp>
      <p:sp>
        <p:nvSpPr>
          <p:cNvPr id="15" name="Safety card 4"/>
          <p:cNvSpPr/>
          <p:nvPr/>
        </p:nvSpPr>
        <p:spPr>
          <a:xfrm>
            <a:off x="4663440" y="2880360"/>
            <a:ext cx="4023360" cy="1463040"/>
          </a:xfrm>
          <a:prstGeom prst="roundRect">
            <a:avLst>
              <a:gd name="adj" fmla="val 6250"/>
            </a:avLst>
          </a:prstGeom>
          <a:solidFill>
            <a:schemeClr val="bg2"/>
          </a:solidFill>
          <a:ln/>
        </p:spPr>
        <p:txBody>
          <a:bodyPr/>
          <a:lstStyle/>
          <a:p>
            <a:endParaRPr lang="en-US"/>
          </a:p>
        </p:txBody>
      </p:sp>
      <p:pic>
        <p:nvPicPr>
          <p:cNvPr id="16" name="Image 3" descr="preencoded.png"/>
          <p:cNvPicPr>
            <a:picLocks noChangeAspect="1"/>
          </p:cNvPicPr>
          <p:nvPr/>
        </p:nvPicPr>
        <p:blipFill>
          <a:blip r:embed="rId6"/>
          <a:stretch>
            <a:fillRect/>
          </a:stretch>
        </p:blipFill>
        <p:spPr>
          <a:xfrm>
            <a:off x="4892040" y="3136392"/>
            <a:ext cx="411480" cy="411480"/>
          </a:xfrm>
          <a:prstGeom prst="rect">
            <a:avLst/>
          </a:prstGeom>
        </p:spPr>
      </p:pic>
      <p:sp>
        <p:nvSpPr>
          <p:cNvPr id="17" name="Text 11"/>
          <p:cNvSpPr txBox="1"/>
          <p:nvPr/>
        </p:nvSpPr>
        <p:spPr>
          <a:xfrm>
            <a:off x="5486400" y="3108960"/>
            <a:ext cx="3017520" cy="411480"/>
          </a:xfrm>
          <a:prstGeom prst="rect">
            <a:avLst/>
          </a:prstGeom>
          <a:noFill/>
          <a:ln/>
        </p:spPr>
        <p:txBody>
          <a:bodyPr wrap="square" lIns="0" tIns="0" rIns="0" bIns="0" rtlCol="0" anchor="ctr"/>
          <a:lstStyle/>
          <a:p>
            <a:pPr marL="0" indent="0">
              <a:buNone/>
            </a:pPr>
            <a:r>
              <a:rPr lang="en-US" sz="1700" b="1" dirty="0">
                <a:solidFill>
                  <a:schemeClr val="tx2"/>
                </a:solidFill>
                <a:latin typeface="Arial" pitchFamily="34" charset="0"/>
                <a:ea typeface="Arial" pitchFamily="34" charset="-122"/>
                <a:cs typeface="Arial" pitchFamily="34" charset="-120"/>
              </a:rPr>
              <a:t>Human in the loop</a:t>
            </a:r>
            <a:endParaRPr lang="en-US" sz="1700" dirty="0"/>
          </a:p>
        </p:txBody>
      </p:sp>
      <p:sp>
        <p:nvSpPr>
          <p:cNvPr id="18" name="Text 12"/>
          <p:cNvSpPr txBox="1"/>
          <p:nvPr/>
        </p:nvSpPr>
        <p:spPr>
          <a:xfrm>
            <a:off x="5486400" y="3538728"/>
            <a:ext cx="3017520" cy="685800"/>
          </a:xfrm>
          <a:prstGeom prst="rect">
            <a:avLst/>
          </a:prstGeom>
          <a:noFill/>
          <a:ln/>
        </p:spPr>
        <p:txBody>
          <a:bodyPr wrap="square" lIns="0" tIns="0" rIns="0" bIns="0" rtlCol="0" anchor="t"/>
          <a:lstStyle/>
          <a:p>
            <a:pPr marL="0" indent="0">
              <a:buNone/>
            </a:pPr>
            <a:r>
              <a:rPr lang="en-US" sz="1400" dirty="0">
                <a:solidFill>
                  <a:schemeClr val="tx1"/>
                </a:solidFill>
                <a:latin typeface="Arial" pitchFamily="34" charset="0"/>
                <a:ea typeface="Arial" pitchFamily="34" charset="-122"/>
                <a:cs typeface="Arial" pitchFamily="34" charset="-120"/>
              </a:rPr>
              <a:t>Users confirm every transcript and letter. A clinical adviser signs off safety before the pilot.</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1"/>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rPr>
              <a:t>Impact and what's next</a:t>
            </a:r>
            <a:endParaRPr lang="en-US" sz="3200" dirty="0"/>
          </a:p>
        </p:txBody>
      </p:sp>
      <p:sp>
        <p:nvSpPr>
          <p:cNvPr id="3" name="Text 1"/>
          <p:cNvSpPr txBox="1"/>
          <p:nvPr/>
        </p:nvSpPr>
        <p:spPr>
          <a:xfrm>
            <a:off x="457200" y="1188720"/>
            <a:ext cx="3840480" cy="411480"/>
          </a:xfrm>
          <a:prstGeom prst="rect">
            <a:avLst/>
          </a:prstGeom>
          <a:noFill/>
          <a:ln/>
        </p:spPr>
        <p:txBody>
          <a:bodyPr wrap="square" lIns="0" tIns="0" rIns="0" bIns="0" rtlCol="0" anchor="ctr"/>
          <a:lstStyle/>
          <a:p>
            <a:pPr marL="0" indent="0">
              <a:buNone/>
            </a:pPr>
            <a:r>
              <a:rPr lang="en-US" sz="2000" b="1" dirty="0">
                <a:solidFill>
                  <a:schemeClr val="accent1"/>
                </a:solidFill>
                <a:latin typeface="Arial" pitchFamily="34" charset="0"/>
                <a:ea typeface="Arial" pitchFamily="34" charset="-122"/>
                <a:cs typeface="Arial" pitchFamily="34" charset="-120"/>
              </a:rPr>
              <a:t>Proposed pilot targets</a:t>
            </a:r>
            <a:endParaRPr lang="en-US" sz="2000" dirty="0"/>
          </a:p>
        </p:txBody>
      </p:sp>
      <p:sp>
        <p:nvSpPr>
          <p:cNvPr id="4" name="Text 2"/>
          <p:cNvSpPr txBox="1"/>
          <p:nvPr/>
        </p:nvSpPr>
        <p:spPr>
          <a:xfrm>
            <a:off x="457200" y="1691640"/>
            <a:ext cx="3840480" cy="21945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latin typeface="Arial" pitchFamily="34" charset="0"/>
                <a:ea typeface="Arial" pitchFamily="34" charset="-122"/>
                <a:cs typeface="Arial" pitchFamily="34" charset="-120"/>
              </a:rPr>
              <a:t>70%+ of users feel more confident</a:t>
            </a:r>
            <a:endParaRPr lang="en-US" sz="1500" dirty="0"/>
          </a:p>
          <a:p>
            <a:pPr marL="342900" indent="-342900">
              <a:spcAft>
                <a:spcPts val="800"/>
              </a:spcAft>
              <a:buSzPct val="100000"/>
              <a:buChar char="•"/>
            </a:pPr>
            <a:r>
              <a:rPr lang="en-US" sz="1500" dirty="0">
                <a:solidFill>
                  <a:schemeClr val="tx1"/>
                </a:solidFill>
                <a:latin typeface="Arial" pitchFamily="34" charset="0"/>
                <a:ea typeface="Arial" pitchFamily="34" charset="-122"/>
                <a:cs typeface="Arial" pitchFamily="34" charset="-120"/>
              </a:rPr>
              <a:t>70%+ of users understand next steps</a:t>
            </a:r>
            <a:endParaRPr lang="en-US" sz="1500" dirty="0"/>
          </a:p>
          <a:p>
            <a:pPr marL="342900" indent="-342900">
              <a:spcAft>
                <a:spcPts val="800"/>
              </a:spcAft>
              <a:buSzPct val="100000"/>
              <a:buChar char="•"/>
            </a:pPr>
            <a:r>
              <a:rPr lang="en-US" sz="1500" dirty="0">
                <a:solidFill>
                  <a:schemeClr val="tx1"/>
                </a:solidFill>
                <a:latin typeface="Arial" pitchFamily="34" charset="0"/>
                <a:ea typeface="Arial" pitchFamily="34" charset="-122"/>
                <a:cs typeface="Arial" pitchFamily="34" charset="-120"/>
              </a:rPr>
              <a:t>60%+ of clinicians find it useful</a:t>
            </a:r>
            <a:endParaRPr lang="en-US" sz="1500" dirty="0"/>
          </a:p>
          <a:p>
            <a:pPr marL="342900" indent="-342900">
              <a:spcAft>
                <a:spcPts val="800"/>
              </a:spcAft>
              <a:buSzPct val="100000"/>
              <a:buChar char="•"/>
            </a:pPr>
            <a:r>
              <a:rPr lang="en-US" sz="1500" dirty="0">
                <a:solidFill>
                  <a:schemeClr val="tx1"/>
                </a:solidFill>
                <a:latin typeface="Arial" pitchFamily="34" charset="0"/>
                <a:ea typeface="Arial" pitchFamily="34" charset="-122"/>
                <a:cs typeface="Arial" pitchFamily="34" charset="-120"/>
              </a:rPr>
              <a:t>No missed urgent case in testing</a:t>
            </a:r>
            <a:endParaRPr lang="en-US" sz="1500" dirty="0"/>
          </a:p>
          <a:p>
            <a:pPr marL="0" indent="0">
              <a:spcAft>
                <a:spcPts val="800"/>
              </a:spcAft>
              <a:buNone/>
            </a:pPr>
            <a:r>
              <a:rPr lang="en-US" sz="1200" i="1" dirty="0">
                <a:solidFill>
                  <a:schemeClr val="tx2"/>
                </a:solidFill>
                <a:latin typeface="Arial" pitchFamily="34" charset="0"/>
                <a:ea typeface="Arial" pitchFamily="34" charset="-122"/>
                <a:cs typeface="Arial" pitchFamily="34" charset="-120"/>
              </a:rPr>
              <a:t>To be agreed with pilot partners</a:t>
            </a:r>
            <a:endParaRPr lang="en-US" sz="1500" dirty="0"/>
          </a:p>
        </p:txBody>
      </p:sp>
      <p:sp>
        <p:nvSpPr>
          <p:cNvPr id="5" name="Roadmap Now"/>
          <p:cNvSpPr/>
          <p:nvPr/>
        </p:nvSpPr>
        <p:spPr>
          <a:xfrm>
            <a:off x="4754880" y="1188720"/>
            <a:ext cx="3931920" cy="914400"/>
          </a:xfrm>
          <a:prstGeom prst="roundRect">
            <a:avLst>
              <a:gd name="adj" fmla="val 10000"/>
            </a:avLst>
          </a:prstGeom>
          <a:solidFill>
            <a:schemeClr val="bg2"/>
          </a:solidFill>
          <a:ln/>
        </p:spPr>
        <p:txBody>
          <a:bodyPr/>
          <a:lstStyle/>
          <a:p>
            <a:endParaRPr lang="en-US"/>
          </a:p>
        </p:txBody>
      </p:sp>
      <p:sp>
        <p:nvSpPr>
          <p:cNvPr id="6" name="Text 4"/>
          <p:cNvSpPr txBox="1"/>
          <p:nvPr/>
        </p:nvSpPr>
        <p:spPr>
          <a:xfrm>
            <a:off x="4983480" y="1298448"/>
            <a:ext cx="3566160" cy="320040"/>
          </a:xfrm>
          <a:prstGeom prst="rect">
            <a:avLst/>
          </a:prstGeom>
          <a:noFill/>
          <a:ln/>
        </p:spPr>
        <p:txBody>
          <a:bodyPr wrap="square" lIns="0" tIns="0" rIns="0" bIns="0" rtlCol="0" anchor="ctr"/>
          <a:lstStyle/>
          <a:p>
            <a:pPr marL="0" indent="0">
              <a:buNone/>
            </a:pPr>
            <a:r>
              <a:rPr lang="en-US" sz="1400" b="1" dirty="0">
                <a:solidFill>
                  <a:schemeClr val="accent1"/>
                </a:solidFill>
                <a:latin typeface="Arial" pitchFamily="34" charset="0"/>
                <a:ea typeface="Arial" pitchFamily="34" charset="-122"/>
                <a:cs typeface="Arial" pitchFamily="34" charset="-120"/>
              </a:rPr>
              <a:t>Now</a:t>
            </a:r>
            <a:endParaRPr lang="en-US" sz="1400" dirty="0"/>
          </a:p>
        </p:txBody>
      </p:sp>
      <p:sp>
        <p:nvSpPr>
          <p:cNvPr id="7" name="Text 5"/>
          <p:cNvSpPr txBox="1"/>
          <p:nvPr/>
        </p:nvSpPr>
        <p:spPr>
          <a:xfrm>
            <a:off x="4983480" y="1627632"/>
            <a:ext cx="3566160" cy="365760"/>
          </a:xfrm>
          <a:prstGeom prst="rect">
            <a:avLst/>
          </a:prstGeom>
          <a:noFill/>
          <a:ln/>
        </p:spPr>
        <p:txBody>
          <a:bodyPr wrap="square" lIns="0" tIns="0" rIns="0" bIns="0" rtlCol="0" anchor="ctr"/>
          <a:lstStyle/>
          <a:p>
            <a:pPr marL="0" indent="0">
              <a:buNone/>
            </a:pPr>
            <a:r>
              <a:rPr lang="en-US" sz="1500" dirty="0">
                <a:solidFill>
                  <a:schemeClr val="tx1"/>
                </a:solidFill>
                <a:latin typeface="Arial" pitchFamily="34" charset="0"/>
                <a:ea typeface="Arial" pitchFamily="34" charset="-122"/>
                <a:cs typeface="Arial" pitchFamily="34" charset="-120"/>
              </a:rPr>
              <a:t>Working prototype with fictional data</a:t>
            </a:r>
            <a:endParaRPr lang="en-US" sz="1500" dirty="0"/>
          </a:p>
        </p:txBody>
      </p:sp>
      <p:sp>
        <p:nvSpPr>
          <p:cNvPr id="8" name="Roadmap Next"/>
          <p:cNvSpPr/>
          <p:nvPr/>
        </p:nvSpPr>
        <p:spPr>
          <a:xfrm>
            <a:off x="4754880" y="2286000"/>
            <a:ext cx="3931920" cy="914400"/>
          </a:xfrm>
          <a:prstGeom prst="roundRect">
            <a:avLst>
              <a:gd name="adj" fmla="val 10000"/>
            </a:avLst>
          </a:prstGeom>
          <a:solidFill>
            <a:schemeClr val="bg2"/>
          </a:solidFill>
          <a:ln/>
        </p:spPr>
        <p:txBody>
          <a:bodyPr/>
          <a:lstStyle/>
          <a:p>
            <a:endParaRPr lang="en-US"/>
          </a:p>
        </p:txBody>
      </p:sp>
      <p:sp>
        <p:nvSpPr>
          <p:cNvPr id="9" name="Text 7"/>
          <p:cNvSpPr txBox="1"/>
          <p:nvPr/>
        </p:nvSpPr>
        <p:spPr>
          <a:xfrm>
            <a:off x="4983480" y="2395728"/>
            <a:ext cx="3566160" cy="320040"/>
          </a:xfrm>
          <a:prstGeom prst="rect">
            <a:avLst/>
          </a:prstGeom>
          <a:noFill/>
          <a:ln/>
        </p:spPr>
        <p:txBody>
          <a:bodyPr wrap="square" lIns="0" tIns="0" rIns="0" bIns="0" rtlCol="0" anchor="ctr"/>
          <a:lstStyle/>
          <a:p>
            <a:pPr marL="0" indent="0">
              <a:buNone/>
            </a:pPr>
            <a:r>
              <a:rPr lang="en-US" sz="1400" b="1" dirty="0">
                <a:solidFill>
                  <a:schemeClr val="accent1"/>
                </a:solidFill>
                <a:latin typeface="Arial" pitchFamily="34" charset="0"/>
                <a:ea typeface="Arial" pitchFamily="34" charset="-122"/>
                <a:cs typeface="Arial" pitchFamily="34" charset="-120"/>
              </a:rPr>
              <a:t>Next</a:t>
            </a:r>
            <a:endParaRPr lang="en-US" sz="1400" dirty="0"/>
          </a:p>
        </p:txBody>
      </p:sp>
      <p:sp>
        <p:nvSpPr>
          <p:cNvPr id="10" name="Text 8"/>
          <p:cNvSpPr txBox="1"/>
          <p:nvPr/>
        </p:nvSpPr>
        <p:spPr>
          <a:xfrm>
            <a:off x="4983480" y="2724912"/>
            <a:ext cx="3566160" cy="365760"/>
          </a:xfrm>
          <a:prstGeom prst="rect">
            <a:avLst/>
          </a:prstGeom>
          <a:noFill/>
          <a:ln/>
        </p:spPr>
        <p:txBody>
          <a:bodyPr wrap="square" lIns="0" tIns="0" rIns="0" bIns="0" rtlCol="0" anchor="ctr"/>
          <a:lstStyle/>
          <a:p>
            <a:pPr marL="0" indent="0">
              <a:buNone/>
            </a:pPr>
            <a:r>
              <a:rPr lang="en-US" sz="1500" dirty="0">
                <a:solidFill>
                  <a:schemeClr val="tx1"/>
                </a:solidFill>
                <a:latin typeface="Arial" pitchFamily="34" charset="0"/>
                <a:ea typeface="Arial" pitchFamily="34" charset="-122"/>
                <a:cs typeface="Arial" pitchFamily="34" charset="-120"/>
              </a:rPr>
              <a:t>8-week closed pilot, 30–50 people</a:t>
            </a:r>
            <a:endParaRPr lang="en-US" sz="1500" dirty="0"/>
          </a:p>
        </p:txBody>
      </p:sp>
      <p:sp>
        <p:nvSpPr>
          <p:cNvPr id="11" name="Roadmap Later"/>
          <p:cNvSpPr/>
          <p:nvPr/>
        </p:nvSpPr>
        <p:spPr>
          <a:xfrm>
            <a:off x="4754880" y="3383280"/>
            <a:ext cx="3931920" cy="914400"/>
          </a:xfrm>
          <a:prstGeom prst="roundRect">
            <a:avLst>
              <a:gd name="adj" fmla="val 10000"/>
            </a:avLst>
          </a:prstGeom>
          <a:solidFill>
            <a:schemeClr val="accent1"/>
          </a:solidFill>
          <a:ln/>
        </p:spPr>
        <p:txBody>
          <a:bodyPr/>
          <a:lstStyle/>
          <a:p>
            <a:endParaRPr lang="en-US"/>
          </a:p>
        </p:txBody>
      </p:sp>
      <p:sp>
        <p:nvSpPr>
          <p:cNvPr id="12" name="Text 10"/>
          <p:cNvSpPr txBox="1"/>
          <p:nvPr/>
        </p:nvSpPr>
        <p:spPr>
          <a:xfrm>
            <a:off x="4983480" y="3493008"/>
            <a:ext cx="3566160" cy="320040"/>
          </a:xfrm>
          <a:prstGeom prst="rect">
            <a:avLst/>
          </a:prstGeom>
          <a:noFill/>
          <a:ln/>
        </p:spPr>
        <p:txBody>
          <a:bodyPr wrap="square" lIns="0" tIns="0" rIns="0" bIns="0" rtlCol="0" anchor="ctr"/>
          <a:lstStyle/>
          <a:p>
            <a:pPr marL="0" indent="0">
              <a:buNone/>
            </a:pPr>
            <a:r>
              <a:rPr lang="en-US" sz="1400" b="1" dirty="0">
                <a:solidFill>
                  <a:schemeClr val="bg1"/>
                </a:solidFill>
                <a:latin typeface="Arial" pitchFamily="34" charset="0"/>
                <a:ea typeface="Arial" pitchFamily="34" charset="-122"/>
                <a:cs typeface="Arial" pitchFamily="34" charset="-120"/>
              </a:rPr>
              <a:t>Later</a:t>
            </a:r>
            <a:endParaRPr lang="en-US" sz="1400" dirty="0"/>
          </a:p>
        </p:txBody>
      </p:sp>
      <p:sp>
        <p:nvSpPr>
          <p:cNvPr id="13" name="Text 11"/>
          <p:cNvSpPr txBox="1"/>
          <p:nvPr/>
        </p:nvSpPr>
        <p:spPr>
          <a:xfrm>
            <a:off x="4983480" y="3822192"/>
            <a:ext cx="3566160" cy="365760"/>
          </a:xfrm>
          <a:prstGeom prst="rect">
            <a:avLst/>
          </a:prstGeom>
          <a:noFill/>
          <a:ln/>
        </p:spPr>
        <p:txBody>
          <a:bodyPr wrap="square" lIns="0" tIns="0" rIns="0" bIns="0" rtlCol="0" anchor="ctr"/>
          <a:lstStyle/>
          <a:p>
            <a:pPr marL="0" indent="0">
              <a:buNone/>
            </a:pPr>
            <a:r>
              <a:rPr lang="en-US" sz="1500" dirty="0">
                <a:solidFill>
                  <a:schemeClr val="bg1"/>
                </a:solidFill>
                <a:latin typeface="Arial" pitchFamily="34" charset="0"/>
                <a:ea typeface="Arial" pitchFamily="34" charset="-122"/>
                <a:cs typeface="Arial" pitchFamily="34" charset="-120"/>
              </a:rPr>
              <a:t>Roll-out decided against go/no-go gates</a:t>
            </a:r>
            <a:endParaRPr lang="en-US" sz="15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1"/>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rPr>
              <a:t>Our team</a:t>
            </a:r>
            <a:endParaRPr lang="en-US" sz="3200" dirty="0"/>
          </a:p>
        </p:txBody>
      </p:sp>
      <p:sp>
        <p:nvSpPr>
          <p:cNvPr id="3" name="Shape 1"/>
          <p:cNvSpPr/>
          <p:nvPr/>
        </p:nvSpPr>
        <p:spPr>
          <a:xfrm>
            <a:off x="868680" y="1371600"/>
            <a:ext cx="1005840" cy="1005840"/>
          </a:xfrm>
          <a:prstGeom prst="ellipse">
            <a:avLst/>
          </a:prstGeom>
          <a:solidFill>
            <a:schemeClr val="bg2"/>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1143000" y="1645920"/>
            <a:ext cx="457200" cy="457200"/>
          </a:xfrm>
          <a:prstGeom prst="rect">
            <a:avLst/>
          </a:prstGeom>
        </p:spPr>
      </p:pic>
      <p:sp>
        <p:nvSpPr>
          <p:cNvPr id="5" name="Text 2"/>
          <p:cNvSpPr txBox="1"/>
          <p:nvPr/>
        </p:nvSpPr>
        <p:spPr>
          <a:xfrm>
            <a:off x="457200" y="2606040"/>
            <a:ext cx="1828800" cy="365760"/>
          </a:xfrm>
          <a:prstGeom prst="rect">
            <a:avLst/>
          </a:prstGeom>
          <a:noFill/>
          <a:ln/>
        </p:spPr>
        <p:txBody>
          <a:bodyPr wrap="square" lIns="0" tIns="0" rIns="0" bIns="0" rtlCol="0" anchor="ctr"/>
          <a:lstStyle/>
          <a:p>
            <a:pPr marL="0" indent="0" algn="ctr">
              <a:buNone/>
            </a:pPr>
            <a:r>
              <a:rPr lang="en-US" sz="1700" b="1" dirty="0">
                <a:solidFill>
                  <a:schemeClr val="tx2"/>
                </a:solidFill>
                <a:latin typeface="Arial" pitchFamily="34" charset="0"/>
                <a:ea typeface="Arial" pitchFamily="34" charset="-122"/>
                <a:cs typeface="Arial" pitchFamily="34" charset="-120"/>
              </a:rPr>
              <a:t>Ryan Owers</a:t>
            </a:r>
            <a:endParaRPr lang="en-US" sz="1700" dirty="0"/>
          </a:p>
        </p:txBody>
      </p:sp>
      <p:sp>
        <p:nvSpPr>
          <p:cNvPr id="6" name="Text 3"/>
          <p:cNvSpPr txBox="1"/>
          <p:nvPr/>
        </p:nvSpPr>
        <p:spPr>
          <a:xfrm>
            <a:off x="457200" y="3017520"/>
            <a:ext cx="1828800" cy="365760"/>
          </a:xfrm>
          <a:prstGeom prst="rect">
            <a:avLst/>
          </a:prstGeom>
          <a:noFill/>
          <a:ln/>
        </p:spPr>
        <p:txBody>
          <a:bodyPr wrap="square" lIns="0" tIns="0" rIns="0" bIns="0" rtlCol="0" anchor="ctr"/>
          <a:lstStyle/>
          <a:p>
            <a:pPr marL="0" indent="0" algn="ctr">
              <a:buNone/>
            </a:pPr>
            <a:r>
              <a:rPr lang="en-US" sz="1400" dirty="0">
                <a:solidFill>
                  <a:schemeClr val="tx1"/>
                </a:solidFill>
                <a:latin typeface="Arial" pitchFamily="34" charset="0"/>
                <a:ea typeface="Arial" pitchFamily="34" charset="-122"/>
                <a:cs typeface="Arial" pitchFamily="34" charset="-120"/>
              </a:rPr>
              <a:t>[Role in project]</a:t>
            </a:r>
            <a:endParaRPr lang="en-US" sz="1400" dirty="0"/>
          </a:p>
        </p:txBody>
      </p:sp>
      <p:sp>
        <p:nvSpPr>
          <p:cNvPr id="7" name="Shape 4"/>
          <p:cNvSpPr/>
          <p:nvPr/>
        </p:nvSpPr>
        <p:spPr>
          <a:xfrm>
            <a:off x="2971800" y="1371600"/>
            <a:ext cx="1005840" cy="1005840"/>
          </a:xfrm>
          <a:prstGeom prst="ellipse">
            <a:avLst/>
          </a:prstGeom>
          <a:solidFill>
            <a:schemeClr val="bg2"/>
          </a:solidFill>
          <a:ln/>
        </p:spPr>
        <p:txBody>
          <a:bodyPr/>
          <a:lstStyle/>
          <a:p>
            <a:endParaRPr lang="en-US"/>
          </a:p>
        </p:txBody>
      </p:sp>
      <p:pic>
        <p:nvPicPr>
          <p:cNvPr id="8" name="Image 1" descr="preencoded.png"/>
          <p:cNvPicPr>
            <a:picLocks noChangeAspect="1"/>
          </p:cNvPicPr>
          <p:nvPr/>
        </p:nvPicPr>
        <p:blipFill>
          <a:blip r:embed="rId3"/>
          <a:stretch>
            <a:fillRect/>
          </a:stretch>
        </p:blipFill>
        <p:spPr>
          <a:xfrm>
            <a:off x="3246120" y="1645920"/>
            <a:ext cx="457200" cy="457200"/>
          </a:xfrm>
          <a:prstGeom prst="rect">
            <a:avLst/>
          </a:prstGeom>
        </p:spPr>
      </p:pic>
      <p:sp>
        <p:nvSpPr>
          <p:cNvPr id="9" name="Text 5"/>
          <p:cNvSpPr txBox="1"/>
          <p:nvPr/>
        </p:nvSpPr>
        <p:spPr>
          <a:xfrm>
            <a:off x="2560320" y="2606040"/>
            <a:ext cx="1828800" cy="365760"/>
          </a:xfrm>
          <a:prstGeom prst="rect">
            <a:avLst/>
          </a:prstGeom>
          <a:noFill/>
          <a:ln/>
        </p:spPr>
        <p:txBody>
          <a:bodyPr wrap="square" lIns="0" tIns="0" rIns="0" bIns="0" rtlCol="0" anchor="ctr"/>
          <a:lstStyle/>
          <a:p>
            <a:pPr marL="0" indent="0" algn="ctr">
              <a:buNone/>
            </a:pPr>
            <a:r>
              <a:rPr lang="en-US" sz="1700" b="1" dirty="0">
                <a:solidFill>
                  <a:schemeClr val="tx2"/>
                </a:solidFill>
                <a:latin typeface="Arial" pitchFamily="34" charset="0"/>
                <a:ea typeface="Arial" pitchFamily="34" charset="-122"/>
                <a:cs typeface="Arial" pitchFamily="34" charset="-120"/>
              </a:rPr>
              <a:t>Tymon Gyau</a:t>
            </a:r>
            <a:endParaRPr lang="en-US" sz="1700" dirty="0"/>
          </a:p>
        </p:txBody>
      </p:sp>
      <p:sp>
        <p:nvSpPr>
          <p:cNvPr id="10" name="Text 6"/>
          <p:cNvSpPr txBox="1"/>
          <p:nvPr/>
        </p:nvSpPr>
        <p:spPr>
          <a:xfrm>
            <a:off x="2560320" y="3017520"/>
            <a:ext cx="1828800" cy="365760"/>
          </a:xfrm>
          <a:prstGeom prst="rect">
            <a:avLst/>
          </a:prstGeom>
          <a:noFill/>
          <a:ln/>
        </p:spPr>
        <p:txBody>
          <a:bodyPr wrap="square" lIns="0" tIns="0" rIns="0" bIns="0" rtlCol="0" anchor="ctr"/>
          <a:lstStyle/>
          <a:p>
            <a:pPr marL="0" indent="0" algn="ctr">
              <a:buNone/>
            </a:pPr>
            <a:r>
              <a:rPr lang="en-US" sz="1400" dirty="0">
                <a:solidFill>
                  <a:schemeClr val="tx1"/>
                </a:solidFill>
                <a:latin typeface="Arial" pitchFamily="34" charset="0"/>
                <a:ea typeface="Arial" pitchFamily="34" charset="-122"/>
                <a:cs typeface="Arial" pitchFamily="34" charset="-120"/>
              </a:rPr>
              <a:t>[Role in project]</a:t>
            </a:r>
            <a:endParaRPr lang="en-US" sz="1400" dirty="0"/>
          </a:p>
        </p:txBody>
      </p:sp>
      <p:sp>
        <p:nvSpPr>
          <p:cNvPr id="11" name="Shape 7"/>
          <p:cNvSpPr/>
          <p:nvPr/>
        </p:nvSpPr>
        <p:spPr>
          <a:xfrm>
            <a:off x="5074920" y="1371600"/>
            <a:ext cx="1005840" cy="1005840"/>
          </a:xfrm>
          <a:prstGeom prst="ellipse">
            <a:avLst/>
          </a:prstGeom>
          <a:solidFill>
            <a:schemeClr val="bg2"/>
          </a:solidFill>
          <a:ln/>
        </p:spPr>
        <p:txBody>
          <a:bodyPr/>
          <a:lstStyle/>
          <a:p>
            <a:endParaRPr lang="en-US"/>
          </a:p>
        </p:txBody>
      </p:sp>
      <p:pic>
        <p:nvPicPr>
          <p:cNvPr id="12" name="Image 2" descr="preencoded.png"/>
          <p:cNvPicPr>
            <a:picLocks noChangeAspect="1"/>
          </p:cNvPicPr>
          <p:nvPr/>
        </p:nvPicPr>
        <p:blipFill>
          <a:blip r:embed="rId3"/>
          <a:stretch>
            <a:fillRect/>
          </a:stretch>
        </p:blipFill>
        <p:spPr>
          <a:xfrm>
            <a:off x="5349240" y="1645920"/>
            <a:ext cx="457200" cy="457200"/>
          </a:xfrm>
          <a:prstGeom prst="rect">
            <a:avLst/>
          </a:prstGeom>
        </p:spPr>
      </p:pic>
      <p:sp>
        <p:nvSpPr>
          <p:cNvPr id="13" name="Text 8"/>
          <p:cNvSpPr txBox="1"/>
          <p:nvPr/>
        </p:nvSpPr>
        <p:spPr>
          <a:xfrm>
            <a:off x="4663440" y="2606040"/>
            <a:ext cx="1828800" cy="365760"/>
          </a:xfrm>
          <a:prstGeom prst="rect">
            <a:avLst/>
          </a:prstGeom>
          <a:noFill/>
          <a:ln/>
        </p:spPr>
        <p:txBody>
          <a:bodyPr wrap="square" lIns="0" tIns="0" rIns="0" bIns="0" rtlCol="0" anchor="ctr"/>
          <a:lstStyle/>
          <a:p>
            <a:pPr marL="0" indent="0" algn="ctr">
              <a:buNone/>
            </a:pPr>
            <a:r>
              <a:rPr lang="en-US" sz="1700" b="1" dirty="0">
                <a:solidFill>
                  <a:schemeClr val="tx2"/>
                </a:solidFill>
                <a:latin typeface="Arial" pitchFamily="34" charset="0"/>
                <a:ea typeface="Arial" pitchFamily="34" charset="-122"/>
                <a:cs typeface="Arial" pitchFamily="34" charset="-120"/>
              </a:rPr>
              <a:t>[Name 3]</a:t>
            </a:r>
            <a:endParaRPr lang="en-US" sz="1700" dirty="0"/>
          </a:p>
        </p:txBody>
      </p:sp>
      <p:sp>
        <p:nvSpPr>
          <p:cNvPr id="14" name="Text 9"/>
          <p:cNvSpPr txBox="1"/>
          <p:nvPr/>
        </p:nvSpPr>
        <p:spPr>
          <a:xfrm>
            <a:off x="4663440" y="3017520"/>
            <a:ext cx="1828800" cy="365760"/>
          </a:xfrm>
          <a:prstGeom prst="rect">
            <a:avLst/>
          </a:prstGeom>
          <a:noFill/>
          <a:ln/>
        </p:spPr>
        <p:txBody>
          <a:bodyPr wrap="square" lIns="0" tIns="0" rIns="0" bIns="0" rtlCol="0" anchor="ctr"/>
          <a:lstStyle/>
          <a:p>
            <a:pPr marL="0" indent="0" algn="ctr">
              <a:buNone/>
            </a:pPr>
            <a:r>
              <a:rPr lang="en-US" sz="1400" dirty="0">
                <a:solidFill>
                  <a:schemeClr val="tx1"/>
                </a:solidFill>
                <a:latin typeface="Arial" pitchFamily="34" charset="0"/>
                <a:ea typeface="Arial" pitchFamily="34" charset="-122"/>
                <a:cs typeface="Arial" pitchFamily="34" charset="-120"/>
              </a:rPr>
              <a:t>[Role in project]</a:t>
            </a:r>
            <a:endParaRPr lang="en-US" sz="1400" dirty="0"/>
          </a:p>
        </p:txBody>
      </p:sp>
      <p:sp>
        <p:nvSpPr>
          <p:cNvPr id="15" name="Shape 10"/>
          <p:cNvSpPr/>
          <p:nvPr/>
        </p:nvSpPr>
        <p:spPr>
          <a:xfrm>
            <a:off x="7178040" y="1371600"/>
            <a:ext cx="1005840" cy="1005840"/>
          </a:xfrm>
          <a:prstGeom prst="ellipse">
            <a:avLst/>
          </a:prstGeom>
          <a:solidFill>
            <a:schemeClr val="bg2"/>
          </a:solidFill>
          <a:ln/>
        </p:spPr>
        <p:txBody>
          <a:bodyPr/>
          <a:lstStyle/>
          <a:p>
            <a:endParaRPr lang="en-US"/>
          </a:p>
        </p:txBody>
      </p:sp>
      <p:pic>
        <p:nvPicPr>
          <p:cNvPr id="16" name="Image 3" descr="preencoded.png"/>
          <p:cNvPicPr>
            <a:picLocks noChangeAspect="1"/>
          </p:cNvPicPr>
          <p:nvPr/>
        </p:nvPicPr>
        <p:blipFill>
          <a:blip r:embed="rId3"/>
          <a:stretch>
            <a:fillRect/>
          </a:stretch>
        </p:blipFill>
        <p:spPr>
          <a:xfrm>
            <a:off x="7452360" y="1645920"/>
            <a:ext cx="457200" cy="457200"/>
          </a:xfrm>
          <a:prstGeom prst="rect">
            <a:avLst/>
          </a:prstGeom>
        </p:spPr>
      </p:pic>
      <p:sp>
        <p:nvSpPr>
          <p:cNvPr id="17" name="Text 11"/>
          <p:cNvSpPr txBox="1"/>
          <p:nvPr/>
        </p:nvSpPr>
        <p:spPr>
          <a:xfrm>
            <a:off x="6766560" y="2606040"/>
            <a:ext cx="1828800" cy="365760"/>
          </a:xfrm>
          <a:prstGeom prst="rect">
            <a:avLst/>
          </a:prstGeom>
          <a:noFill/>
          <a:ln/>
        </p:spPr>
        <p:txBody>
          <a:bodyPr wrap="square" lIns="0" tIns="0" rIns="0" bIns="0" rtlCol="0" anchor="ctr"/>
          <a:lstStyle/>
          <a:p>
            <a:pPr marL="0" indent="0" algn="ctr">
              <a:buNone/>
            </a:pPr>
            <a:r>
              <a:rPr lang="en-US" sz="1700" b="1" dirty="0">
                <a:solidFill>
                  <a:schemeClr val="tx2"/>
                </a:solidFill>
                <a:latin typeface="Arial" pitchFamily="34" charset="0"/>
                <a:ea typeface="Arial" pitchFamily="34" charset="-122"/>
                <a:cs typeface="Arial" pitchFamily="34" charset="-120"/>
              </a:rPr>
              <a:t>[Name 4]</a:t>
            </a:r>
            <a:endParaRPr lang="en-US" sz="1700" dirty="0"/>
          </a:p>
        </p:txBody>
      </p:sp>
      <p:sp>
        <p:nvSpPr>
          <p:cNvPr id="18" name="Text 12"/>
          <p:cNvSpPr txBox="1"/>
          <p:nvPr/>
        </p:nvSpPr>
        <p:spPr>
          <a:xfrm>
            <a:off x="6766560" y="3017520"/>
            <a:ext cx="1828800" cy="365760"/>
          </a:xfrm>
          <a:prstGeom prst="rect">
            <a:avLst/>
          </a:prstGeom>
          <a:noFill/>
          <a:ln/>
        </p:spPr>
        <p:txBody>
          <a:bodyPr wrap="square" lIns="0" tIns="0" rIns="0" bIns="0" rtlCol="0" anchor="ctr"/>
          <a:lstStyle/>
          <a:p>
            <a:pPr marL="0" indent="0" algn="ctr">
              <a:buNone/>
            </a:pPr>
            <a:r>
              <a:rPr lang="en-US" sz="1400" dirty="0">
                <a:solidFill>
                  <a:schemeClr val="tx1"/>
                </a:solidFill>
                <a:latin typeface="Arial" pitchFamily="34" charset="0"/>
                <a:ea typeface="Arial" pitchFamily="34" charset="-122"/>
                <a:cs typeface="Arial" pitchFamily="34" charset="-120"/>
              </a:rPr>
              <a:t>[Role in project]</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1"/>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417320"/>
            <a:ext cx="8046720" cy="1005840"/>
          </a:xfrm>
          <a:prstGeom prst="rect">
            <a:avLst/>
          </a:prstGeom>
          <a:noFill/>
          <a:ln/>
        </p:spPr>
        <p:txBody>
          <a:bodyPr wrap="square" lIns="0" tIns="0" rIns="0" bIns="0" rtlCol="0" anchor="ctr"/>
          <a:lstStyle/>
          <a:p>
            <a:pPr marL="0" indent="0" algn="l">
              <a:buNone/>
            </a:pPr>
            <a:r>
              <a:rPr lang="en-US" sz="4400" b="1" dirty="0">
                <a:solidFill>
                  <a:schemeClr val="bg1"/>
                </a:solidFill>
              </a:rPr>
              <a:t>Thank you</a:t>
            </a:r>
            <a:endParaRPr lang="en-US" sz="4400" dirty="0"/>
          </a:p>
        </p:txBody>
      </p:sp>
      <p:sp>
        <p:nvSpPr>
          <p:cNvPr id="3" name="Text 0"/>
          <p:cNvSpPr>
            <a:spLocks noGrp="1"/>
          </p:cNvSpPr>
          <p:nvPr>
            <p:ph type="body" idx="101" hasCustomPrompt="1"/>
          </p:nvPr>
        </p:nvSpPr>
        <p:spPr>
          <a:xfrm>
            <a:off x="548640" y="2468880"/>
            <a:ext cx="7498080" cy="1417320"/>
          </a:xfrm>
          <a:prstGeom prst="rect">
            <a:avLst/>
          </a:prstGeom>
          <a:noFill/>
          <a:ln/>
        </p:spPr>
        <p:txBody>
          <a:bodyPr wrap="square" lIns="0" tIns="0" rIns="0" bIns="0" rtlCol="0" anchor="t"/>
          <a:lstStyle/>
          <a:p>
            <a:pPr marL="0" indent="0">
              <a:buNone/>
            </a:pPr>
            <a:r>
              <a:rPr lang="en-US" sz="1800" dirty="0">
                <a:solidFill>
                  <a:schemeClr val="bg1"/>
                </a:solidFill>
              </a:rPr>
              <a:t>Next time Marcia has an appointment, she’ll walk in prepared and walk out knowing what to do next.</a:t>
            </a:r>
            <a:endParaRPr lang="en-US" sz="1800" dirty="0"/>
          </a:p>
          <a:p>
            <a:pPr marL="0" indent="0">
              <a:buNone/>
            </a:pPr>
            <a:r>
              <a:rPr lang="en-US" sz="1800" b="1" dirty="0">
                <a:solidFill>
                  <a:schemeClr val="bg1"/>
                </a:solidFill>
              </a:rPr>
              <a:t>Our ask: approve an 8-week closed pilot with community partners.</a:t>
            </a:r>
            <a:endParaRPr lang="en-US" sz="1800" dirty="0"/>
          </a:p>
        </p:txBody>
      </p:sp>
      <p:sp>
        <p:nvSpPr>
          <p:cNvPr id="4" name="Text 2"/>
          <p:cNvSpPr txBox="1"/>
          <p:nvPr/>
        </p:nvSpPr>
        <p:spPr>
          <a:xfrm>
            <a:off x="548640" y="4206240"/>
            <a:ext cx="8046720" cy="365760"/>
          </a:xfrm>
          <a:prstGeom prst="rect">
            <a:avLst/>
          </a:prstGeom>
          <a:noFill/>
          <a:ln/>
        </p:spPr>
        <p:txBody>
          <a:bodyPr wrap="square" lIns="0" tIns="0" rIns="0" bIns="0" rtlCol="0" anchor="ctr"/>
          <a:lstStyle/>
          <a:p>
            <a:pPr marL="0" indent="0">
              <a:buNone/>
            </a:pPr>
            <a:r>
              <a:rPr lang="en-US" sz="1400" dirty="0">
                <a:solidFill>
                  <a:schemeClr val="accent3"/>
                </a:solidFill>
                <a:latin typeface="Arial" pitchFamily="34" charset="0"/>
                <a:ea typeface="Arial" pitchFamily="34" charset="-122"/>
                <a:cs typeface="Arial" pitchFamily="34" charset="-120"/>
              </a:rPr>
              <a:t>Questions?  ·  [Contact or demo link]</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417320"/>
            <a:ext cx="8046720" cy="1005840"/>
          </a:xfrm>
          <a:prstGeom prst="rect">
            <a:avLst/>
          </a:prstGeom>
          <a:noFill/>
          <a:ln/>
        </p:spPr>
        <p:txBody>
          <a:bodyPr wrap="square" lIns="0" tIns="0" rIns="0" bIns="0" rtlCol="0" anchor="ctr"/>
          <a:lstStyle/>
          <a:p>
            <a:pPr marL="0" indent="0" algn="l">
              <a:buNone/>
            </a:pPr>
            <a:r>
              <a:rPr lang="en-US" sz="4400" b="1" dirty="0">
                <a:solidFill>
                  <a:schemeClr val="bg1"/>
                </a:solidFill>
              </a:rPr>
              <a:t>Appendix: the five epics</a:t>
            </a:r>
            <a:endParaRPr lang="en-US" sz="4400" dirty="0"/>
          </a:p>
        </p:txBody>
      </p:sp>
      <p:sp>
        <p:nvSpPr>
          <p:cNvPr id="3" name="Text 0"/>
          <p:cNvSpPr>
            <a:spLocks noGrp="1"/>
          </p:cNvSpPr>
          <p:nvPr>
            <p:ph type="body" idx="101" hasCustomPrompt="1"/>
          </p:nvPr>
        </p:nvSpPr>
        <p:spPr>
          <a:xfrm>
            <a:off x="548640" y="2468880"/>
            <a:ext cx="7498080" cy="822960"/>
          </a:xfrm>
          <a:prstGeom prst="rect">
            <a:avLst/>
          </a:prstGeom>
          <a:noFill/>
          <a:ln/>
        </p:spPr>
        <p:txBody>
          <a:bodyPr wrap="square" lIns="0" tIns="0" rIns="0" bIns="0" rtlCol="0" anchor="t"/>
          <a:lstStyle/>
          <a:p>
            <a:pPr marL="0" indent="0">
              <a:buNone/>
            </a:pPr>
            <a:r>
              <a:rPr lang="en-US" sz="1800" dirty="0">
                <a:solidFill>
                  <a:schemeClr val="bg1"/>
                </a:solidFill>
              </a:rPr>
              <a:t>Two user journeys and three shared capabilities, with the user stories and requirements behind each. For Q&amp;A and use-case discussion.</a:t>
            </a:r>
            <a:endParaRPr lang="en-US" sz="1800" dirty="0"/>
          </a:p>
        </p:txBody>
      </p:sp>
      <p:sp>
        <p:nvSpPr>
          <p:cNvPr id="4" name="Text 2"/>
          <p:cNvSpPr txBox="1"/>
          <p:nvPr/>
        </p:nvSpPr>
        <p:spPr>
          <a:xfrm>
            <a:off x="548640" y="4206240"/>
            <a:ext cx="8046720" cy="365760"/>
          </a:xfrm>
          <a:prstGeom prst="rect">
            <a:avLst/>
          </a:prstGeom>
          <a:noFill/>
          <a:ln/>
        </p:spPr>
        <p:txBody>
          <a:bodyPr wrap="square" lIns="0" tIns="0" rIns="0" bIns="0" rtlCol="0" anchor="ctr"/>
          <a:lstStyle/>
          <a:p>
            <a:pPr marL="0" indent="0">
              <a:buNone/>
            </a:pPr>
            <a:r>
              <a:rPr lang="en-US" sz="1400" dirty="0">
                <a:solidFill>
                  <a:schemeClr val="accent3"/>
                </a:solidFill>
                <a:latin typeface="Arial" pitchFamily="34" charset="0"/>
                <a:ea typeface="Arial" pitchFamily="34" charset="-122"/>
                <a:cs typeface="Arial" pitchFamily="34" charset="-120"/>
              </a:rPr>
              <a:t>24 functional and 18 non-functional requirements, each mapped to an epic</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rPr>
              <a:t>Prepare for my appointment</a:t>
            </a:r>
            <a:endParaRPr lang="en-US" sz="3200" dirty="0"/>
          </a:p>
        </p:txBody>
      </p:sp>
      <p:sp>
        <p:nvSpPr>
          <p:cNvPr id="30" name="Epic tag"/>
          <p:cNvSpPr txBox="1"/>
          <p:nvPr/>
        </p:nvSpPr>
        <p:spPr>
          <a:xfrm>
            <a:off x="457200" y="932688"/>
            <a:ext cx="8229600" cy="256032"/>
          </a:xfrm>
          <a:prstGeom prst="rect">
            <a:avLst/>
          </a:prstGeom>
          <a:noFill/>
          <a:ln/>
        </p:spPr>
        <p:txBody>
          <a:bodyPr wrap="square" lIns="0" tIns="0" rIns="0" bIns="0" rtlCol="0" anchor="ctr"/>
          <a:lstStyle/>
          <a:p>
            <a:pPr marL="0" indent="0">
              <a:buNone/>
            </a:pPr>
            <a:r>
              <a:rPr lang="en-GB" sz="1100" b="1" dirty="0">
                <a:solidFill>
                  <a:schemeClr val="accent1"/>
                </a:solidFill>
                <a:latin typeface="Arial" pitchFamily="34" charset="0"/>
                <a:ea typeface="Arial" pitchFamily="34" charset="-122"/>
                <a:cs typeface="Arial" pitchFamily="34" charset="-120"/>
              </a:rPr>
              <a:t>EPIC 1 OF 5  ·  USER JOURNEY</a:t>
            </a:r>
            <a:endParaRPr lang="en-GB" sz="1200" dirty="0"/>
          </a:p>
        </p:txBody>
      </p:sp>
      <p:sp>
        <p:nvSpPr>
          <p:cNvPr id="31" name="Epic statement"/>
          <p:cNvSpPr txBox="1"/>
          <p:nvPr/>
        </p:nvSpPr>
        <p:spPr>
          <a:xfrm>
            <a:off x="457200" y="1207008"/>
            <a:ext cx="8229600" cy="457200"/>
          </a:xfrm>
          <a:prstGeom prst="rect">
            <a:avLst/>
          </a:prstGeom>
          <a:noFill/>
          <a:ln/>
        </p:spPr>
        <p:txBody>
          <a:bodyPr wrap="square" lIns="0" tIns="0" rIns="0" bIns="0" rtlCol="0" anchor="t"/>
          <a:lstStyle/>
          <a:p>
            <a:pPr marL="0" indent="0">
              <a:buNone/>
            </a:pPr>
            <a:r>
              <a:rPr lang="en-GB" sz="1300" i="1" dirty="0">
                <a:solidFill>
                  <a:schemeClr val="tx1"/>
                </a:solidFill>
                <a:latin typeface="Arial" pitchFamily="34" charset="0"/>
                <a:ea typeface="Arial" pitchFamily="34" charset="-122"/>
                <a:cs typeface="Arial" pitchFamily="34" charset="-120"/>
              </a:rPr>
              <a:t>As someone with an NHS appointment coming up, I want to describe my concern in my own words and get a clear summary, so that I’m heard and nothing important is missed.</a:t>
            </a:r>
            <a:endParaRPr lang="en-GB" sz="1200" dirty="0"/>
          </a:p>
        </p:txBody>
      </p:sp>
      <p:sp>
        <p:nvSpPr>
          <p:cNvPr id="32" name="Stories heading"/>
          <p:cNvSpPr txBox="1"/>
          <p:nvPr/>
        </p:nvSpPr>
        <p:spPr>
          <a:xfrm>
            <a:off x="457200" y="1783080"/>
            <a:ext cx="5120640" cy="274320"/>
          </a:xfrm>
          <a:prstGeom prst="rect">
            <a:avLst/>
          </a:prstGeom>
          <a:noFill/>
          <a:ln/>
        </p:spPr>
        <p:txBody>
          <a:bodyPr wrap="square" lIns="0" tIns="0" rIns="0" bIns="0" rtlCol="0" anchor="ctr"/>
          <a:lstStyle/>
          <a:p>
            <a:pPr marL="0" indent="0">
              <a:buNone/>
            </a:pPr>
            <a:r>
              <a:rPr lang="en-GB" sz="1400" b="1" dirty="0">
                <a:solidFill>
                  <a:schemeClr val="tx2"/>
                </a:solidFill>
                <a:latin typeface="Arial" pitchFamily="34" charset="0"/>
                <a:ea typeface="Arial" pitchFamily="34" charset="-122"/>
                <a:cs typeface="Arial" pitchFamily="34" charset="-120"/>
              </a:rPr>
              <a:t>User stories</a:t>
            </a:r>
            <a:endParaRPr lang="en-GB" sz="1200" dirty="0"/>
          </a:p>
        </p:txBody>
      </p:sp>
      <p:sp>
        <p:nvSpPr>
          <p:cNvPr id="33" name="User stories"/>
          <p:cNvSpPr txBox="1"/>
          <p:nvPr/>
        </p:nvSpPr>
        <p:spPr>
          <a:xfrm>
            <a:off x="457200" y="2121408"/>
            <a:ext cx="5120640" cy="2011680"/>
          </a:xfrm>
          <a:prstGeom prst="rect">
            <a:avLst/>
          </a:prstGeom>
          <a:noFill/>
          <a:ln/>
        </p:spPr>
        <p:txBody>
          <a:bodyPr wrap="square" lIns="0" tIns="0" rIns="0" bIns="0" rtlCol="0" anchor="t"/>
          <a:lstStyle/>
          <a:p>
            <a:pPr marL="228600" indent="-228600">
              <a:spcAft>
                <a:spcPts val="700"/>
              </a:spcAft>
              <a:buSzPct val="100000"/>
              <a:buChar char="•"/>
            </a:pPr>
            <a:r>
              <a:rPr lang="en-GB" sz="1200" b="1" dirty="0">
                <a:solidFill>
                  <a:schemeClr val="tx1"/>
                </a:solidFill>
                <a:latin typeface="Arial" pitchFamily="34" charset="0"/>
                <a:ea typeface="Arial" pitchFamily="34" charset="-122"/>
                <a:cs typeface="Arial" pitchFamily="34" charset="-120"/>
              </a:rPr>
              <a:t>As Marcia,</a:t>
            </a:r>
            <a:r>
              <a:rPr lang="en-GB" sz="1200" dirty="0">
                <a:solidFill>
                  <a:schemeClr val="tx1"/>
                </a:solidFill>
                <a:latin typeface="Arial" pitchFamily="34" charset="0"/>
                <a:ea typeface="Arial" pitchFamily="34" charset="-122"/>
                <a:cs typeface="Arial" pitchFamily="34" charset="-120"/>
              </a:rPr>
              <a:t> I want to type or speak my concern in Patois, step by step, so I don’t have to translate it myself.</a:t>
            </a:r>
            <a:r>
              <a:rPr lang="en-GB" sz="1000" b="1" dirty="0">
                <a:solidFill>
                  <a:schemeClr val="accent1"/>
                </a:solidFill>
                <a:latin typeface="Arial" pitchFamily="34" charset="0"/>
                <a:ea typeface="Arial" pitchFamily="34" charset="-122"/>
                <a:cs typeface="Arial" pitchFamily="34" charset="-120"/>
              </a:rPr>
              <a:t>  FR-21  FR-06  FR-07</a:t>
            </a:r>
            <a:endParaRPr lang="en-GB" sz="1200" dirty="0"/>
          </a:p>
          <a:p>
            <a:pPr marL="228600" indent="-228600">
              <a:spcAft>
                <a:spcPts val="700"/>
              </a:spcAft>
              <a:buSzPct val="100000"/>
              <a:buChar char="•"/>
            </a:pPr>
            <a:r>
              <a:rPr lang="en-GB" sz="1200" b="1" dirty="0">
                <a:solidFill>
                  <a:schemeClr val="tx1"/>
                </a:solidFill>
                <a:latin typeface="Arial" pitchFamily="34" charset="0"/>
                <a:ea typeface="Arial" pitchFamily="34" charset="-122"/>
                <a:cs typeface="Arial" pitchFamily="34" charset="-120"/>
              </a:rPr>
              <a:t>As a user,</a:t>
            </a:r>
            <a:r>
              <a:rPr lang="en-GB" sz="1200" dirty="0">
                <a:solidFill>
                  <a:schemeClr val="tx1"/>
                </a:solidFill>
                <a:latin typeface="Arial" pitchFamily="34" charset="0"/>
                <a:ea typeface="Arial" pitchFamily="34" charset="-122"/>
                <a:cs typeface="Arial" pitchFamily="34" charset="-120"/>
              </a:rPr>
              <a:t> I want up to three short, skippable questions about gaps, so my summary is complete.</a:t>
            </a:r>
            <a:r>
              <a:rPr lang="en-GB" sz="1000" b="1" dirty="0">
                <a:solidFill>
                  <a:schemeClr val="accent1"/>
                </a:solidFill>
                <a:latin typeface="Arial" pitchFamily="34" charset="0"/>
                <a:ea typeface="Arial" pitchFamily="34" charset="-122"/>
                <a:cs typeface="Arial" pitchFamily="34" charset="-120"/>
              </a:rPr>
              <a:t>  FR-22</a:t>
            </a:r>
            <a:endParaRPr lang="en-GB" sz="1200" dirty="0"/>
          </a:p>
          <a:p>
            <a:pPr marL="228600" indent="-228600">
              <a:spcAft>
                <a:spcPts val="700"/>
              </a:spcAft>
              <a:buSzPct val="100000"/>
              <a:buChar char="•"/>
            </a:pPr>
            <a:r>
              <a:rPr lang="en-GB" sz="1200" b="1" dirty="0">
                <a:solidFill>
                  <a:schemeClr val="tx1"/>
                </a:solidFill>
                <a:latin typeface="Arial" pitchFamily="34" charset="0"/>
                <a:ea typeface="Arial" pitchFamily="34" charset="-122"/>
                <a:cs typeface="Arial" pitchFamily="34" charset="-120"/>
              </a:rPr>
              <a:t>As a parent,</a:t>
            </a:r>
            <a:r>
              <a:rPr lang="en-GB" sz="1200" dirty="0">
                <a:solidFill>
                  <a:schemeClr val="tx1"/>
                </a:solidFill>
                <a:latin typeface="Arial" pitchFamily="34" charset="0"/>
                <a:ea typeface="Arial" pitchFamily="34" charset="-122"/>
                <a:cs typeface="Arial" pitchFamily="34" charset="-120"/>
              </a:rPr>
              <a:t> I want to say it’s for my child, so it’s written from the right view and safety checks are stricter.</a:t>
            </a:r>
            <a:r>
              <a:rPr lang="en-GB" sz="1000" b="1" dirty="0">
                <a:solidFill>
                  <a:schemeClr val="accent1"/>
                </a:solidFill>
                <a:latin typeface="Arial" pitchFamily="34" charset="0"/>
                <a:ea typeface="Arial" pitchFamily="34" charset="-122"/>
                <a:cs typeface="Arial" pitchFamily="34" charset="-120"/>
              </a:rPr>
              <a:t>  FR-09  NFR-05</a:t>
            </a:r>
            <a:endParaRPr lang="en-GB" sz="1200" dirty="0"/>
          </a:p>
          <a:p>
            <a:pPr marL="228600" indent="-228600">
              <a:spcAft>
                <a:spcPts val="700"/>
              </a:spcAft>
              <a:buSzPct val="100000"/>
              <a:buChar char="•"/>
            </a:pPr>
            <a:r>
              <a:rPr lang="en-GB" sz="1200" b="1" dirty="0">
                <a:solidFill>
                  <a:schemeClr val="tx1"/>
                </a:solidFill>
                <a:latin typeface="Arial" pitchFamily="34" charset="0"/>
                <a:ea typeface="Arial" pitchFamily="34" charset="-122"/>
                <a:cs typeface="Arial" pitchFamily="34" charset="-120"/>
              </a:rPr>
              <a:t>As a GP,</a:t>
            </a:r>
            <a:r>
              <a:rPr lang="en-GB" sz="1200" dirty="0">
                <a:solidFill>
                  <a:schemeClr val="tx1"/>
                </a:solidFill>
                <a:latin typeface="Arial" pitchFamily="34" charset="0"/>
                <a:ea typeface="Arial" pitchFamily="34" charset="-122"/>
                <a:cs typeface="Arial" pitchFamily="34" charset="-120"/>
              </a:rPr>
              <a:t> I want a clean English summary of only what the patient said, so I can read it in a minute.</a:t>
            </a:r>
            <a:r>
              <a:rPr lang="en-GB" sz="1000" b="1" dirty="0">
                <a:solidFill>
                  <a:schemeClr val="accent1"/>
                </a:solidFill>
                <a:latin typeface="Arial" pitchFamily="34" charset="0"/>
                <a:ea typeface="Arial" pitchFamily="34" charset="-122"/>
                <a:cs typeface="Arial" pitchFamily="34" charset="-120"/>
              </a:rPr>
              <a:t>  FR-01  NFR-12  NFR-14</a:t>
            </a:r>
            <a:endParaRPr lang="en-GB" sz="1200" dirty="0"/>
          </a:p>
        </p:txBody>
      </p:sp>
      <p:sp>
        <p:nvSpPr>
          <p:cNvPr id="34" name="Demo and priority"/>
          <p:cNvSpPr/>
          <p:nvPr/>
        </p:nvSpPr>
        <p:spPr>
          <a:xfrm>
            <a:off x="457200" y="4187952"/>
            <a:ext cx="5120640" cy="475488"/>
          </a:xfrm>
          <a:prstGeom prst="roundRect">
            <a:avLst>
              <a:gd name="adj" fmla="val 8000"/>
            </a:avLst>
          </a:prstGeom>
          <a:solidFill>
            <a:schemeClr val="accent1"/>
          </a:solidFill>
          <a:ln/>
        </p:spPr>
        <p:txBody>
          <a:bodyPr wrap="square" lIns="137160" tIns="82296" rIns="137160" bIns="82296" rtlCol="0" anchor="ctr"/>
          <a:lstStyle/>
          <a:p>
            <a:pPr marL="0" indent="0">
              <a:buNone/>
            </a:pPr>
            <a:r>
              <a:rPr lang="en-GB" sz="1100" dirty="0">
                <a:solidFill>
                  <a:schemeClr val="bg1"/>
                </a:solidFill>
                <a:latin typeface="Arial" pitchFamily="34" charset="0"/>
                <a:ea typeface="Arial" pitchFamily="34" charset="-122"/>
                <a:cs typeface="Arial" pitchFamily="34" charset="-120"/>
              </a:rPr>
              <a:t>Demo: Marcia’s Patois input becomes a clinician summary and her own version. Voice input is the 2nd feature cut.</a:t>
            </a:r>
            <a:endParaRPr lang="en-GB" sz="1100" dirty="0"/>
          </a:p>
        </p:txBody>
      </p:sp>
      <p:sp>
        <p:nvSpPr>
          <p:cNvPr id="35" name="Requirements card"/>
          <p:cNvSpPr/>
          <p:nvPr/>
        </p:nvSpPr>
        <p:spPr>
          <a:xfrm>
            <a:off x="5806440" y="1783080"/>
            <a:ext cx="2880360" cy="2880360"/>
          </a:xfrm>
          <a:prstGeom prst="roundRect">
            <a:avLst>
              <a:gd name="adj" fmla="val 8000"/>
            </a:avLst>
          </a:prstGeom>
          <a:solidFill>
            <a:schemeClr val="bg2"/>
          </a:solidFill>
          <a:ln/>
        </p:spPr>
        <p:txBody>
          <a:bodyPr wrap="square" lIns="146304" tIns="87782" rIns="146304" bIns="87782" rtlCol="0" anchor="t"/>
          <a:lstStyle/>
          <a:p>
            <a:pPr marL="0" indent="0">
              <a:spcAft>
                <a:spcPts val="100"/>
              </a:spcAft>
              <a:buNone/>
            </a:pPr>
            <a:r>
              <a:rPr lang="en-GB" sz="1100" b="1" dirty="0">
                <a:solidFill>
                  <a:schemeClr val="accent1"/>
                </a:solidFill>
                <a:latin typeface="Arial" pitchFamily="34" charset="0"/>
                <a:ea typeface="Arial" pitchFamily="34" charset="-122"/>
                <a:cs typeface="Arial" pitchFamily="34" charset="-120"/>
              </a:rPr>
              <a:t>Functional</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FR-21</a:t>
            </a:r>
            <a:r>
              <a:rPr lang="en-GB" sz="1000" dirty="0">
                <a:solidFill>
                  <a:schemeClr val="tx1"/>
                </a:solidFill>
                <a:latin typeface="Arial" pitchFamily="34" charset="0"/>
                <a:ea typeface="Arial" pitchFamily="34" charset="-122"/>
                <a:cs typeface="Arial" pitchFamily="34" charset="-120"/>
              </a:rPr>
              <a:t>  Guided steps</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FR-01</a:t>
            </a:r>
            <a:r>
              <a:rPr lang="en-GB" sz="1000" dirty="0">
                <a:solidFill>
                  <a:schemeClr val="tx1"/>
                </a:solidFill>
                <a:latin typeface="Arial" pitchFamily="34" charset="0"/>
                <a:ea typeface="Arial" pitchFamily="34" charset="-122"/>
                <a:cs typeface="Arial" pitchFamily="34" charset="-120"/>
              </a:rPr>
              <a:t>  Pre-appointment summary</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FR-22</a:t>
            </a:r>
            <a:r>
              <a:rPr lang="en-GB" sz="1000" dirty="0">
                <a:solidFill>
                  <a:schemeClr val="tx1"/>
                </a:solidFill>
                <a:latin typeface="Arial" pitchFamily="34" charset="0"/>
                <a:ea typeface="Arial" pitchFamily="34" charset="-122"/>
                <a:cs typeface="Arial" pitchFamily="34" charset="-120"/>
              </a:rPr>
              <a:t>  Follow-up questions</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FR-09</a:t>
            </a:r>
            <a:r>
              <a:rPr lang="en-GB" sz="1000" dirty="0">
                <a:solidFill>
                  <a:schemeClr val="tx1"/>
                </a:solidFill>
                <a:latin typeface="Arial" pitchFamily="34" charset="0"/>
                <a:ea typeface="Arial" pitchFamily="34" charset="-122"/>
                <a:cs typeface="Arial" pitchFamily="34" charset="-120"/>
              </a:rPr>
              <a:t>  “On behalf of” mode</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FR-06</a:t>
            </a:r>
            <a:r>
              <a:rPr lang="en-GB" sz="1000" dirty="0">
                <a:solidFill>
                  <a:schemeClr val="tx1"/>
                </a:solidFill>
                <a:latin typeface="Arial" pitchFamily="34" charset="0"/>
                <a:ea typeface="Arial" pitchFamily="34" charset="-122"/>
                <a:cs typeface="Arial" pitchFamily="34" charset="-120"/>
              </a:rPr>
              <a:t>  Typed input</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FR-07</a:t>
            </a:r>
            <a:r>
              <a:rPr lang="en-GB" sz="1000" dirty="0">
                <a:solidFill>
                  <a:schemeClr val="tx1"/>
                </a:solidFill>
                <a:latin typeface="Arial" pitchFamily="34" charset="0"/>
                <a:ea typeface="Arial" pitchFamily="34" charset="-122"/>
                <a:cs typeface="Arial" pitchFamily="34" charset="-120"/>
              </a:rPr>
              <a:t>  Voice input</a:t>
            </a:r>
            <a:endParaRPr lang="en-GB" sz="1000" dirty="0"/>
          </a:p>
          <a:p>
            <a:pPr marL="0" indent="0">
              <a:spcBef>
                <a:spcPts val="500"/>
              </a:spcBef>
              <a:spcAft>
                <a:spcPts val="100"/>
              </a:spcAft>
              <a:buNone/>
            </a:pPr>
            <a:r>
              <a:rPr lang="en-GB" sz="1100" b="1" dirty="0">
                <a:solidFill>
                  <a:schemeClr val="accent1"/>
                </a:solidFill>
                <a:latin typeface="Arial" pitchFamily="34" charset="0"/>
                <a:ea typeface="Arial" pitchFamily="34" charset="-122"/>
                <a:cs typeface="Arial" pitchFamily="34" charset="-120"/>
              </a:rPr>
              <a:t>Non-functional</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NFR-05</a:t>
            </a:r>
            <a:r>
              <a:rPr lang="en-GB" sz="1000" dirty="0">
                <a:solidFill>
                  <a:schemeClr val="tx1"/>
                </a:solidFill>
                <a:latin typeface="Arial" pitchFamily="34" charset="0"/>
                <a:ea typeface="Arial" pitchFamily="34" charset="-122"/>
                <a:cs typeface="Arial" pitchFamily="34" charset="-120"/>
              </a:rPr>
              <a:t>  Children’s data</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NFR-12</a:t>
            </a:r>
            <a:r>
              <a:rPr lang="en-GB" sz="1000" dirty="0">
                <a:solidFill>
                  <a:schemeClr val="tx1"/>
                </a:solidFill>
                <a:latin typeface="Arial" pitchFamily="34" charset="0"/>
                <a:ea typeface="Arial" pitchFamily="34" charset="-122"/>
                <a:cs typeface="Arial" pitchFamily="34" charset="-120"/>
              </a:rPr>
              <a:t>  Readability and tone</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NFR-14</a:t>
            </a:r>
            <a:r>
              <a:rPr lang="en-GB" sz="1000" dirty="0">
                <a:solidFill>
                  <a:schemeClr val="tx1"/>
                </a:solidFill>
                <a:latin typeface="Arial" pitchFamily="34" charset="0"/>
                <a:ea typeface="Arial" pitchFamily="34" charset="-122"/>
                <a:cs typeface="Arial" pitchFamily="34" charset="-120"/>
              </a:rPr>
              <a:t>  Performance</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NFR-15</a:t>
            </a:r>
            <a:r>
              <a:rPr lang="en-GB" sz="1000" dirty="0">
                <a:solidFill>
                  <a:schemeClr val="tx1"/>
                </a:solidFill>
                <a:latin typeface="Arial" pitchFamily="34" charset="0"/>
                <a:ea typeface="Arial" pitchFamily="34" charset="-122"/>
                <a:cs typeface="Arial" pitchFamily="34" charset="-120"/>
              </a:rPr>
              <a:t>  Mobile-first (shared with 2)</a:t>
            </a:r>
            <a:endParaRPr lang="en-GB"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1"/>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rPr>
              <a:t>Understand what I was told</a:t>
            </a:r>
            <a:endParaRPr lang="en-US" sz="3200" dirty="0"/>
          </a:p>
        </p:txBody>
      </p:sp>
      <p:sp>
        <p:nvSpPr>
          <p:cNvPr id="30" name="Epic tag"/>
          <p:cNvSpPr txBox="1"/>
          <p:nvPr/>
        </p:nvSpPr>
        <p:spPr>
          <a:xfrm>
            <a:off x="457200" y="932688"/>
            <a:ext cx="8229600" cy="256032"/>
          </a:xfrm>
          <a:prstGeom prst="rect">
            <a:avLst/>
          </a:prstGeom>
          <a:noFill/>
          <a:ln/>
        </p:spPr>
        <p:txBody>
          <a:bodyPr wrap="square" lIns="0" tIns="0" rIns="0" bIns="0" rtlCol="0" anchor="ctr"/>
          <a:lstStyle/>
          <a:p>
            <a:pPr marL="0" indent="0">
              <a:buNone/>
            </a:pPr>
            <a:r>
              <a:rPr lang="en-GB" sz="1100" b="1" dirty="0">
                <a:solidFill>
                  <a:schemeClr val="accent1"/>
                </a:solidFill>
                <a:latin typeface="Arial" pitchFamily="34" charset="0"/>
                <a:ea typeface="Arial" pitchFamily="34" charset="-122"/>
                <a:cs typeface="Arial" pitchFamily="34" charset="-120"/>
              </a:rPr>
              <a:t>EPIC 2 OF 5  ·  USER JOURNEY</a:t>
            </a:r>
            <a:endParaRPr lang="en-GB" sz="1200" dirty="0"/>
          </a:p>
        </p:txBody>
      </p:sp>
      <p:sp>
        <p:nvSpPr>
          <p:cNvPr id="31" name="Epic statement"/>
          <p:cNvSpPr txBox="1"/>
          <p:nvPr/>
        </p:nvSpPr>
        <p:spPr>
          <a:xfrm>
            <a:off x="457200" y="1207008"/>
            <a:ext cx="8229600" cy="457200"/>
          </a:xfrm>
          <a:prstGeom prst="rect">
            <a:avLst/>
          </a:prstGeom>
          <a:noFill/>
          <a:ln/>
        </p:spPr>
        <p:txBody>
          <a:bodyPr wrap="square" lIns="0" tIns="0" rIns="0" bIns="0" rtlCol="0" anchor="t"/>
          <a:lstStyle/>
          <a:p>
            <a:pPr marL="0" indent="0">
              <a:buNone/>
            </a:pPr>
            <a:r>
              <a:rPr lang="en-GB" sz="1300" i="1" dirty="0">
                <a:solidFill>
                  <a:schemeClr val="tx1"/>
                </a:solidFill>
                <a:latin typeface="Arial" pitchFamily="34" charset="0"/>
                <a:ea typeface="Arial" pitchFamily="34" charset="-122"/>
                <a:cs typeface="Arial" pitchFamily="34" charset="-120"/>
              </a:rPr>
              <a:t>As someone leaving an appointment, I want what I was told explained in everyday words, so that I know what to do next and by when.</a:t>
            </a:r>
            <a:endParaRPr lang="en-GB" sz="1200" dirty="0"/>
          </a:p>
        </p:txBody>
      </p:sp>
      <p:sp>
        <p:nvSpPr>
          <p:cNvPr id="32" name="Stories heading"/>
          <p:cNvSpPr txBox="1"/>
          <p:nvPr/>
        </p:nvSpPr>
        <p:spPr>
          <a:xfrm>
            <a:off x="457200" y="1783080"/>
            <a:ext cx="5120640" cy="274320"/>
          </a:xfrm>
          <a:prstGeom prst="rect">
            <a:avLst/>
          </a:prstGeom>
          <a:noFill/>
          <a:ln/>
        </p:spPr>
        <p:txBody>
          <a:bodyPr wrap="square" lIns="0" tIns="0" rIns="0" bIns="0" rtlCol="0" anchor="ctr"/>
          <a:lstStyle/>
          <a:p>
            <a:pPr marL="0" indent="0">
              <a:buNone/>
            </a:pPr>
            <a:r>
              <a:rPr lang="en-GB" sz="1400" b="1" dirty="0">
                <a:solidFill>
                  <a:schemeClr val="tx2"/>
                </a:solidFill>
                <a:latin typeface="Arial" pitchFamily="34" charset="0"/>
                <a:ea typeface="Arial" pitchFamily="34" charset="-122"/>
                <a:cs typeface="Arial" pitchFamily="34" charset="-120"/>
              </a:rPr>
              <a:t>User stories</a:t>
            </a:r>
            <a:endParaRPr lang="en-GB" sz="1200" dirty="0"/>
          </a:p>
        </p:txBody>
      </p:sp>
      <p:sp>
        <p:nvSpPr>
          <p:cNvPr id="33" name="User stories"/>
          <p:cNvSpPr txBox="1"/>
          <p:nvPr/>
        </p:nvSpPr>
        <p:spPr>
          <a:xfrm>
            <a:off x="457200" y="2121408"/>
            <a:ext cx="5120640" cy="2011680"/>
          </a:xfrm>
          <a:prstGeom prst="rect">
            <a:avLst/>
          </a:prstGeom>
          <a:noFill/>
          <a:ln/>
        </p:spPr>
        <p:txBody>
          <a:bodyPr wrap="square" lIns="0" tIns="0" rIns="0" bIns="0" rtlCol="0" anchor="t"/>
          <a:lstStyle/>
          <a:p>
            <a:pPr marL="228600" indent="-228600">
              <a:spcAft>
                <a:spcPts val="700"/>
              </a:spcAft>
              <a:buSzPct val="100000"/>
              <a:buChar char="•"/>
            </a:pPr>
            <a:r>
              <a:rPr lang="en-GB" sz="1200" b="1" dirty="0">
                <a:solidFill>
                  <a:schemeClr val="tx1"/>
                </a:solidFill>
                <a:latin typeface="Arial" pitchFamily="34" charset="0"/>
                <a:ea typeface="Arial" pitchFamily="34" charset="-122"/>
                <a:cs typeface="Arial" pitchFamily="34" charset="-120"/>
              </a:rPr>
              <a:t>As a Pidgin speaker,</a:t>
            </a:r>
            <a:r>
              <a:rPr lang="en-GB" sz="1200" dirty="0">
                <a:solidFill>
                  <a:schemeClr val="tx1"/>
                </a:solidFill>
                <a:latin typeface="Arial" pitchFamily="34" charset="0"/>
                <a:ea typeface="Arial" pitchFamily="34" charset="-122"/>
                <a:cs typeface="Arial" pitchFamily="34" charset="-120"/>
              </a:rPr>
              <a:t> I want to photograph my GP letter, so I don’t have to retype it.</a:t>
            </a:r>
            <a:r>
              <a:rPr lang="en-GB" sz="1000" b="1" dirty="0">
                <a:solidFill>
                  <a:schemeClr val="accent1"/>
                </a:solidFill>
                <a:latin typeface="Arial" pitchFamily="34" charset="0"/>
                <a:ea typeface="Arial" pitchFamily="34" charset="-122"/>
                <a:cs typeface="Arial" pitchFamily="34" charset="-120"/>
              </a:rPr>
              <a:t>  FR-08</a:t>
            </a:r>
            <a:endParaRPr lang="en-GB" sz="1200" dirty="0"/>
          </a:p>
          <a:p>
            <a:pPr marL="228600" indent="-228600">
              <a:spcAft>
                <a:spcPts val="700"/>
              </a:spcAft>
              <a:buSzPct val="100000"/>
              <a:buChar char="•"/>
            </a:pPr>
            <a:r>
              <a:rPr lang="en-GB" sz="1200" b="1" dirty="0">
                <a:solidFill>
                  <a:schemeClr val="tx1"/>
                </a:solidFill>
                <a:latin typeface="Arial" pitchFamily="34" charset="0"/>
                <a:ea typeface="Arial" pitchFamily="34" charset="-122"/>
                <a:cs typeface="Arial" pitchFamily="34" charset="-120"/>
              </a:rPr>
              <a:t>As a user,</a:t>
            </a:r>
            <a:r>
              <a:rPr lang="en-GB" sz="1200" dirty="0">
                <a:solidFill>
                  <a:schemeClr val="tx1"/>
                </a:solidFill>
                <a:latin typeface="Arial" pitchFamily="34" charset="0"/>
                <a:ea typeface="Arial" pitchFamily="34" charset="-122"/>
                <a:cs typeface="Arial" pitchFamily="34" charset="-120"/>
              </a:rPr>
              <a:t> I want to confirm the extracted text, with medicines and doses highlighted, before anything is explained.</a:t>
            </a:r>
            <a:r>
              <a:rPr lang="en-GB" sz="1000" b="1" dirty="0">
                <a:solidFill>
                  <a:schemeClr val="accent1"/>
                </a:solidFill>
                <a:latin typeface="Arial" pitchFamily="34" charset="0"/>
                <a:ea typeface="Arial" pitchFamily="34" charset="-122"/>
                <a:cs typeface="Arial" pitchFamily="34" charset="-120"/>
              </a:rPr>
              <a:t>  FR-08</a:t>
            </a:r>
            <a:endParaRPr lang="en-GB" sz="1200" dirty="0"/>
          </a:p>
          <a:p>
            <a:pPr marL="228600" indent="-228600">
              <a:spcAft>
                <a:spcPts val="700"/>
              </a:spcAft>
              <a:buSzPct val="100000"/>
              <a:buChar char="•"/>
            </a:pPr>
            <a:r>
              <a:rPr lang="en-GB" sz="1200" b="1" dirty="0">
                <a:solidFill>
                  <a:schemeClr val="tx1"/>
                </a:solidFill>
                <a:latin typeface="Arial" pitchFamily="34" charset="0"/>
                <a:ea typeface="Arial" pitchFamily="34" charset="-122"/>
                <a:cs typeface="Arial" pitchFamily="34" charset="-120"/>
              </a:rPr>
              <a:t>As a user,</a:t>
            </a:r>
            <a:r>
              <a:rPr lang="en-GB" sz="1200" dirty="0">
                <a:solidFill>
                  <a:schemeClr val="tx1"/>
                </a:solidFill>
                <a:latin typeface="Arial" pitchFamily="34" charset="0"/>
                <a:ea typeface="Arial" pitchFamily="34" charset="-122"/>
                <a:cs typeface="Arial" pitchFamily="34" charset="-120"/>
              </a:rPr>
              <a:t> I want every next step tied to a quote from my letter, and gaps flagged with who to ask.</a:t>
            </a:r>
            <a:r>
              <a:rPr lang="en-GB" sz="1000" b="1" dirty="0">
                <a:solidFill>
                  <a:schemeClr val="accent1"/>
                </a:solidFill>
                <a:latin typeface="Arial" pitchFamily="34" charset="0"/>
                <a:ea typeface="Arial" pitchFamily="34" charset="-122"/>
                <a:cs typeface="Arial" pitchFamily="34" charset="-120"/>
              </a:rPr>
              <a:t>  FR-02  NFR-02</a:t>
            </a:r>
            <a:endParaRPr lang="en-GB" sz="1200" dirty="0"/>
          </a:p>
          <a:p>
            <a:pPr marL="228600" indent="-228600">
              <a:spcAft>
                <a:spcPts val="700"/>
              </a:spcAft>
              <a:buSzPct val="100000"/>
              <a:buChar char="•"/>
            </a:pPr>
            <a:r>
              <a:rPr lang="en-GB" sz="1200" b="1" dirty="0">
                <a:solidFill>
                  <a:schemeClr val="tx1"/>
                </a:solidFill>
                <a:latin typeface="Arial" pitchFamily="34" charset="0"/>
                <a:ea typeface="Arial" pitchFamily="34" charset="-122"/>
                <a:cs typeface="Arial" pitchFamily="34" charset="-120"/>
              </a:rPr>
              <a:t>As a user,</a:t>
            </a:r>
            <a:r>
              <a:rPr lang="en-GB" sz="1200" dirty="0">
                <a:solidFill>
                  <a:schemeClr val="tx1"/>
                </a:solidFill>
                <a:latin typeface="Arial" pitchFamily="34" charset="0"/>
                <a:ea typeface="Arial" pitchFamily="34" charset="-122"/>
                <a:cs typeface="Arial" pitchFamily="34" charset="-120"/>
              </a:rPr>
              <a:t> I want a PDF with a clinician page and a QR code to take to my next appointment.</a:t>
            </a:r>
            <a:r>
              <a:rPr lang="en-GB" sz="1000" b="1" dirty="0">
                <a:solidFill>
                  <a:schemeClr val="accent1"/>
                </a:solidFill>
                <a:latin typeface="Arial" pitchFamily="34" charset="0"/>
                <a:ea typeface="Arial" pitchFamily="34" charset="-122"/>
                <a:cs typeface="Arial" pitchFamily="34" charset="-120"/>
              </a:rPr>
              <a:t>  FR-10</a:t>
            </a:r>
            <a:endParaRPr lang="en-GB" sz="1200" dirty="0"/>
          </a:p>
        </p:txBody>
      </p:sp>
      <p:sp>
        <p:nvSpPr>
          <p:cNvPr id="34" name="Demo and priority"/>
          <p:cNvSpPr/>
          <p:nvPr/>
        </p:nvSpPr>
        <p:spPr>
          <a:xfrm>
            <a:off x="457200" y="4187952"/>
            <a:ext cx="5120640" cy="475488"/>
          </a:xfrm>
          <a:prstGeom prst="roundRect">
            <a:avLst>
              <a:gd name="adj" fmla="val 8000"/>
            </a:avLst>
          </a:prstGeom>
          <a:solidFill>
            <a:schemeClr val="accent1"/>
          </a:solidFill>
          <a:ln/>
        </p:spPr>
        <p:txBody>
          <a:bodyPr wrap="square" lIns="137160" tIns="82296" rIns="137160" bIns="82296" rtlCol="0" anchor="ctr"/>
          <a:lstStyle/>
          <a:p>
            <a:pPr marL="0" indent="0">
              <a:buNone/>
            </a:pPr>
            <a:r>
              <a:rPr lang="en-GB" sz="1100" dirty="0">
                <a:solidFill>
                  <a:schemeClr val="bg1"/>
                </a:solidFill>
                <a:latin typeface="Arial" pitchFamily="34" charset="0"/>
                <a:ea typeface="Arial" pitchFamily="34" charset="-122"/>
                <a:cs typeface="Arial" pitchFamily="34" charset="-120"/>
              </a:rPr>
              <a:t>Demo: an English GP letter explained in Pidgin, with the course length flagged as missing. Photo input is never cut.</a:t>
            </a:r>
            <a:endParaRPr lang="en-GB" sz="1100" dirty="0"/>
          </a:p>
        </p:txBody>
      </p:sp>
      <p:sp>
        <p:nvSpPr>
          <p:cNvPr id="35" name="Requirements card"/>
          <p:cNvSpPr/>
          <p:nvPr/>
        </p:nvSpPr>
        <p:spPr>
          <a:xfrm>
            <a:off x="5806440" y="1783080"/>
            <a:ext cx="2880360" cy="2880360"/>
          </a:xfrm>
          <a:prstGeom prst="roundRect">
            <a:avLst>
              <a:gd name="adj" fmla="val 8000"/>
            </a:avLst>
          </a:prstGeom>
          <a:solidFill>
            <a:schemeClr val="bg2"/>
          </a:solidFill>
          <a:ln/>
        </p:spPr>
        <p:txBody>
          <a:bodyPr wrap="square" lIns="146304" tIns="87782" rIns="146304" bIns="87782" rtlCol="0" anchor="t"/>
          <a:lstStyle/>
          <a:p>
            <a:pPr marL="0" indent="0">
              <a:spcAft>
                <a:spcPts val="100"/>
              </a:spcAft>
              <a:buNone/>
            </a:pPr>
            <a:r>
              <a:rPr lang="en-GB" sz="1100" b="1" dirty="0">
                <a:solidFill>
                  <a:schemeClr val="accent1"/>
                </a:solidFill>
                <a:latin typeface="Arial" pitchFamily="34" charset="0"/>
                <a:ea typeface="Arial" pitchFamily="34" charset="-122"/>
                <a:cs typeface="Arial" pitchFamily="34" charset="-120"/>
              </a:rPr>
              <a:t>Functional</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FR-02</a:t>
            </a:r>
            <a:r>
              <a:rPr lang="en-GB" sz="1000" dirty="0">
                <a:solidFill>
                  <a:schemeClr val="tx1"/>
                </a:solidFill>
                <a:latin typeface="Arial" pitchFamily="34" charset="0"/>
                <a:ea typeface="Arial" pitchFamily="34" charset="-122"/>
                <a:cs typeface="Arial" pitchFamily="34" charset="-120"/>
              </a:rPr>
              <a:t>  Post-appointment explanation</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FR-08</a:t>
            </a:r>
            <a:r>
              <a:rPr lang="en-GB" sz="1000" dirty="0">
                <a:solidFill>
                  <a:schemeClr val="tx1"/>
                </a:solidFill>
                <a:latin typeface="Arial" pitchFamily="34" charset="0"/>
                <a:ea typeface="Arial" pitchFamily="34" charset="-122"/>
                <a:cs typeface="Arial" pitchFamily="34" charset="-120"/>
              </a:rPr>
              <a:t>  Photo input</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FR-10</a:t>
            </a:r>
            <a:r>
              <a:rPr lang="en-GB" sz="1000" dirty="0">
                <a:solidFill>
                  <a:schemeClr val="tx1"/>
                </a:solidFill>
                <a:latin typeface="Arial" pitchFamily="34" charset="0"/>
                <a:ea typeface="Arial" pitchFamily="34" charset="-122"/>
                <a:cs typeface="Arial" pitchFamily="34" charset="-120"/>
              </a:rPr>
              <a:t>  Bilingual PDF with clinician QR</a:t>
            </a:r>
            <a:endParaRPr lang="en-GB" sz="1000" dirty="0"/>
          </a:p>
          <a:p>
            <a:pPr marL="0" indent="0">
              <a:spcBef>
                <a:spcPts val="500"/>
              </a:spcBef>
              <a:spcAft>
                <a:spcPts val="100"/>
              </a:spcAft>
              <a:buNone/>
            </a:pPr>
            <a:r>
              <a:rPr lang="en-GB" sz="1100" b="1" dirty="0">
                <a:solidFill>
                  <a:schemeClr val="accent1"/>
                </a:solidFill>
                <a:latin typeface="Arial" pitchFamily="34" charset="0"/>
                <a:ea typeface="Arial" pitchFamily="34" charset="-122"/>
                <a:cs typeface="Arial" pitchFamily="34" charset="-120"/>
              </a:rPr>
              <a:t>Non-functional</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NFR-02</a:t>
            </a:r>
            <a:r>
              <a:rPr lang="en-GB" sz="1000" dirty="0">
                <a:solidFill>
                  <a:schemeClr val="tx1"/>
                </a:solidFill>
                <a:latin typeface="Arial" pitchFamily="34" charset="0"/>
                <a:ea typeface="Arial" pitchFamily="34" charset="-122"/>
                <a:cs typeface="Arial" pitchFamily="34" charset="-120"/>
              </a:rPr>
              <a:t>  Output integrity</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NFR-15</a:t>
            </a:r>
            <a:r>
              <a:rPr lang="en-GB" sz="1000" dirty="0">
                <a:solidFill>
                  <a:schemeClr val="tx1"/>
                </a:solidFill>
                <a:latin typeface="Arial" pitchFamily="34" charset="0"/>
                <a:ea typeface="Arial" pitchFamily="34" charset="-122"/>
                <a:cs typeface="Arial" pitchFamily="34" charset="-120"/>
              </a:rPr>
              <a:t>  Mobile-first (shared with 1)</a:t>
            </a:r>
            <a:endParaRPr lang="en-GB"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1"/>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rPr>
              <a:t>Language and dialect engine</a:t>
            </a:r>
            <a:endParaRPr lang="en-US" sz="3200" dirty="0"/>
          </a:p>
        </p:txBody>
      </p:sp>
      <p:sp>
        <p:nvSpPr>
          <p:cNvPr id="30" name="Epic tag"/>
          <p:cNvSpPr txBox="1"/>
          <p:nvPr/>
        </p:nvSpPr>
        <p:spPr>
          <a:xfrm>
            <a:off x="457200" y="932688"/>
            <a:ext cx="8229600" cy="256032"/>
          </a:xfrm>
          <a:prstGeom prst="rect">
            <a:avLst/>
          </a:prstGeom>
          <a:noFill/>
          <a:ln/>
        </p:spPr>
        <p:txBody>
          <a:bodyPr wrap="square" lIns="0" tIns="0" rIns="0" bIns="0" rtlCol="0" anchor="ctr"/>
          <a:lstStyle/>
          <a:p>
            <a:pPr marL="0" indent="0">
              <a:buNone/>
            </a:pPr>
            <a:r>
              <a:rPr lang="en-GB" sz="1100" b="1" dirty="0">
                <a:solidFill>
                  <a:schemeClr val="accent1"/>
                </a:solidFill>
                <a:latin typeface="Arial" pitchFamily="34" charset="0"/>
                <a:ea typeface="Arial" pitchFamily="34" charset="-122"/>
                <a:cs typeface="Arial" pitchFamily="34" charset="-120"/>
              </a:rPr>
              <a:t>EPIC 3 OF 5  ·  SHARED CAPABILITY</a:t>
            </a:r>
            <a:endParaRPr lang="en-GB" sz="1200" dirty="0"/>
          </a:p>
        </p:txBody>
      </p:sp>
      <p:sp>
        <p:nvSpPr>
          <p:cNvPr id="31" name="Epic statement"/>
          <p:cNvSpPr txBox="1"/>
          <p:nvPr/>
        </p:nvSpPr>
        <p:spPr>
          <a:xfrm>
            <a:off x="457200" y="1207008"/>
            <a:ext cx="8229600" cy="457200"/>
          </a:xfrm>
          <a:prstGeom prst="rect">
            <a:avLst/>
          </a:prstGeom>
          <a:noFill/>
          <a:ln/>
        </p:spPr>
        <p:txBody>
          <a:bodyPr wrap="square" lIns="0" tIns="0" rIns="0" bIns="0" rtlCol="0" anchor="t"/>
          <a:lstStyle/>
          <a:p>
            <a:pPr marL="0" indent="0">
              <a:buNone/>
            </a:pPr>
            <a:r>
              <a:rPr lang="en-GB" sz="1300" i="1" dirty="0">
                <a:solidFill>
                  <a:schemeClr val="tx1"/>
                </a:solidFill>
                <a:latin typeface="Arial" pitchFamily="34" charset="0"/>
                <a:ea typeface="Arial" pitchFamily="34" charset="-122"/>
                <a:cs typeface="Arial" pitchFamily="34" charset="-120"/>
              </a:rPr>
              <a:t>As someone who doesn’t think in standard English, I want CareNav to work in my language or dialect, so that I can check the result says what I meant.</a:t>
            </a:r>
            <a:endParaRPr lang="en-GB" sz="1200" dirty="0"/>
          </a:p>
        </p:txBody>
      </p:sp>
      <p:sp>
        <p:nvSpPr>
          <p:cNvPr id="32" name="Stories heading"/>
          <p:cNvSpPr txBox="1"/>
          <p:nvPr/>
        </p:nvSpPr>
        <p:spPr>
          <a:xfrm>
            <a:off x="457200" y="1783080"/>
            <a:ext cx="5120640" cy="274320"/>
          </a:xfrm>
          <a:prstGeom prst="rect">
            <a:avLst/>
          </a:prstGeom>
          <a:noFill/>
          <a:ln/>
        </p:spPr>
        <p:txBody>
          <a:bodyPr wrap="square" lIns="0" tIns="0" rIns="0" bIns="0" rtlCol="0" anchor="ctr"/>
          <a:lstStyle/>
          <a:p>
            <a:pPr marL="0" indent="0">
              <a:buNone/>
            </a:pPr>
            <a:r>
              <a:rPr lang="en-GB" sz="1400" b="1" dirty="0">
                <a:solidFill>
                  <a:schemeClr val="tx2"/>
                </a:solidFill>
                <a:latin typeface="Arial" pitchFamily="34" charset="0"/>
                <a:ea typeface="Arial" pitchFamily="34" charset="-122"/>
                <a:cs typeface="Arial" pitchFamily="34" charset="-120"/>
              </a:rPr>
              <a:t>User stories</a:t>
            </a:r>
            <a:endParaRPr lang="en-GB" sz="1200" dirty="0"/>
          </a:p>
        </p:txBody>
      </p:sp>
      <p:sp>
        <p:nvSpPr>
          <p:cNvPr id="33" name="User stories"/>
          <p:cNvSpPr txBox="1"/>
          <p:nvPr/>
        </p:nvSpPr>
        <p:spPr>
          <a:xfrm>
            <a:off x="457200" y="2121408"/>
            <a:ext cx="5120640" cy="2011680"/>
          </a:xfrm>
          <a:prstGeom prst="rect">
            <a:avLst/>
          </a:prstGeom>
          <a:noFill/>
          <a:ln/>
        </p:spPr>
        <p:txBody>
          <a:bodyPr wrap="square" lIns="0" tIns="0" rIns="0" bIns="0" rtlCol="0" anchor="t"/>
          <a:lstStyle/>
          <a:p>
            <a:pPr marL="228600" indent="-228600">
              <a:spcAft>
                <a:spcPts val="700"/>
              </a:spcAft>
              <a:buSzPct val="100000"/>
              <a:buChar char="•"/>
            </a:pPr>
            <a:r>
              <a:rPr lang="en-GB" sz="1200" b="1" dirty="0">
                <a:solidFill>
                  <a:schemeClr val="tx1"/>
                </a:solidFill>
                <a:latin typeface="Arial" pitchFamily="34" charset="0"/>
                <a:ea typeface="Arial" pitchFamily="34" charset="-122"/>
                <a:cs typeface="Arial" pitchFamily="34" charset="-120"/>
              </a:rPr>
              <a:t>As a user,</a:t>
            </a:r>
            <a:r>
              <a:rPr lang="en-GB" sz="1200" dirty="0">
                <a:solidFill>
                  <a:schemeClr val="tx1"/>
                </a:solidFill>
                <a:latin typeface="Arial" pitchFamily="34" charset="0"/>
                <a:ea typeface="Arial" pitchFamily="34" charset="-122"/>
                <a:cs typeface="Arial" pitchFamily="34" charset="-120"/>
              </a:rPr>
              <a:t> I never want to say which language I’m using, so I can just start.</a:t>
            </a:r>
            <a:r>
              <a:rPr lang="en-GB" sz="1000" b="1" dirty="0">
                <a:solidFill>
                  <a:schemeClr val="accent1"/>
                </a:solidFill>
                <a:latin typeface="Arial" pitchFamily="34" charset="0"/>
                <a:ea typeface="Arial" pitchFamily="34" charset="-122"/>
                <a:cs typeface="Arial" pitchFamily="34" charset="-120"/>
              </a:rPr>
              <a:t>  FR-04</a:t>
            </a:r>
            <a:endParaRPr lang="en-GB" sz="1200" dirty="0"/>
          </a:p>
          <a:p>
            <a:pPr marL="228600" indent="-228600">
              <a:spcAft>
                <a:spcPts val="700"/>
              </a:spcAft>
              <a:buSzPct val="100000"/>
              <a:buChar char="•"/>
            </a:pPr>
            <a:r>
              <a:rPr lang="en-GB" sz="1200" b="1" dirty="0">
                <a:solidFill>
                  <a:schemeClr val="tx1"/>
                </a:solidFill>
                <a:latin typeface="Arial" pitchFamily="34" charset="0"/>
                <a:ea typeface="Arial" pitchFamily="34" charset="-122"/>
                <a:cs typeface="Arial" pitchFamily="34" charset="-120"/>
              </a:rPr>
              <a:t>As a Pidgin speaker,</a:t>
            </a:r>
            <a:r>
              <a:rPr lang="en-GB" sz="1200" dirty="0">
                <a:solidFill>
                  <a:schemeClr val="tx1"/>
                </a:solidFill>
                <a:latin typeface="Arial" pitchFamily="34" charset="0"/>
                <a:ea typeface="Arial" pitchFamily="34" charset="-122"/>
                <a:cs typeface="Arial" pitchFamily="34" charset="-120"/>
              </a:rPr>
              <a:t> I want my result in Pidgin beside the original letter, so I can check it.</a:t>
            </a:r>
            <a:r>
              <a:rPr lang="en-GB" sz="1000" b="1" dirty="0">
                <a:solidFill>
                  <a:schemeClr val="accent1"/>
                </a:solidFill>
                <a:latin typeface="Arial" pitchFamily="34" charset="0"/>
                <a:ea typeface="Arial" pitchFamily="34" charset="-122"/>
                <a:cs typeface="Arial" pitchFamily="34" charset="-120"/>
              </a:rPr>
              <a:t>  FR-03  FR-04</a:t>
            </a:r>
            <a:endParaRPr lang="en-GB" sz="1200" dirty="0"/>
          </a:p>
          <a:p>
            <a:pPr marL="228600" indent="-228600">
              <a:spcAft>
                <a:spcPts val="700"/>
              </a:spcAft>
              <a:buSzPct val="100000"/>
              <a:buChar char="•"/>
            </a:pPr>
            <a:r>
              <a:rPr lang="en-GB" sz="1200" b="1" dirty="0">
                <a:solidFill>
                  <a:schemeClr val="tx1"/>
                </a:solidFill>
                <a:latin typeface="Arial" pitchFamily="34" charset="0"/>
                <a:ea typeface="Arial" pitchFamily="34" charset="-122"/>
                <a:cs typeface="Arial" pitchFamily="34" charset="-120"/>
              </a:rPr>
              <a:t>As a user,</a:t>
            </a:r>
            <a:r>
              <a:rPr lang="en-GB" sz="1200" dirty="0">
                <a:solidFill>
                  <a:schemeClr val="tx1"/>
                </a:solidFill>
                <a:latin typeface="Arial" pitchFamily="34" charset="0"/>
                <a:ea typeface="Arial" pitchFamily="34" charset="-122"/>
                <a:cs typeface="Arial" pitchFamily="34" charset="-120"/>
              </a:rPr>
              <a:t> I want to switch the interface language on any screen without losing my answers.</a:t>
            </a:r>
            <a:r>
              <a:rPr lang="en-GB" sz="1000" b="1" dirty="0">
                <a:solidFill>
                  <a:schemeClr val="accent1"/>
                </a:solidFill>
                <a:latin typeface="Arial" pitchFamily="34" charset="0"/>
                <a:ea typeface="Arial" pitchFamily="34" charset="-122"/>
                <a:cs typeface="Arial" pitchFamily="34" charset="-120"/>
              </a:rPr>
              <a:t>  FR-27  NFR-10</a:t>
            </a:r>
            <a:endParaRPr lang="en-GB" sz="1200" dirty="0"/>
          </a:p>
          <a:p>
            <a:pPr marL="228600" indent="-228600">
              <a:spcAft>
                <a:spcPts val="700"/>
              </a:spcAft>
              <a:buSzPct val="100000"/>
              <a:buChar char="•"/>
            </a:pPr>
            <a:r>
              <a:rPr lang="en-GB" sz="1200" b="1" dirty="0">
                <a:solidFill>
                  <a:schemeClr val="tx1"/>
                </a:solidFill>
                <a:latin typeface="Arial" pitchFamily="34" charset="0"/>
                <a:ea typeface="Arial" pitchFamily="34" charset="-122"/>
                <a:cs typeface="Arial" pitchFamily="34" charset="-120"/>
              </a:rPr>
              <a:t>As the product owner,</a:t>
            </a:r>
            <a:r>
              <a:rPr lang="en-GB" sz="1200" dirty="0">
                <a:solidFill>
                  <a:schemeClr val="tx1"/>
                </a:solidFill>
                <a:latin typeface="Arial" pitchFamily="34" charset="0"/>
                <a:ea typeface="Arial" pitchFamily="34" charset="-122"/>
                <a:cs typeface="Arial" pitchFamily="34" charset="-120"/>
              </a:rPr>
              <a:t> I want to add languages by config, fully supported only after native-speaker sign-off.</a:t>
            </a:r>
            <a:r>
              <a:rPr lang="en-GB" sz="1000" b="1" dirty="0">
                <a:solidFill>
                  <a:schemeClr val="accent1"/>
                </a:solidFill>
                <a:latin typeface="Arial" pitchFamily="34" charset="0"/>
                <a:ea typeface="Arial" pitchFamily="34" charset="-122"/>
                <a:cs typeface="Arial" pitchFamily="34" charset="-120"/>
              </a:rPr>
              <a:t>  FR-28  NFR-11</a:t>
            </a:r>
            <a:endParaRPr lang="en-GB" sz="1200" dirty="0"/>
          </a:p>
        </p:txBody>
      </p:sp>
      <p:sp>
        <p:nvSpPr>
          <p:cNvPr id="34" name="Demo and priority"/>
          <p:cNvSpPr/>
          <p:nvPr/>
        </p:nvSpPr>
        <p:spPr>
          <a:xfrm>
            <a:off x="457200" y="4187952"/>
            <a:ext cx="5120640" cy="475488"/>
          </a:xfrm>
          <a:prstGeom prst="roundRect">
            <a:avLst>
              <a:gd name="adj" fmla="val 8000"/>
            </a:avLst>
          </a:prstGeom>
          <a:solidFill>
            <a:schemeClr val="accent1"/>
          </a:solidFill>
          <a:ln/>
        </p:spPr>
        <p:txBody>
          <a:bodyPr wrap="square" lIns="137160" tIns="82296" rIns="137160" bIns="82296" rtlCol="0" anchor="ctr"/>
          <a:lstStyle/>
          <a:p>
            <a:pPr marL="0" indent="0">
              <a:buNone/>
            </a:pPr>
            <a:r>
              <a:rPr lang="en-GB" sz="1100" dirty="0">
                <a:solidFill>
                  <a:schemeClr val="bg1"/>
                </a:solidFill>
                <a:latin typeface="Arial" pitchFamily="34" charset="0"/>
                <a:ea typeface="Arial" pitchFamily="34" charset="-122"/>
                <a:cs typeface="Arial" pitchFamily="34" charset="-120"/>
              </a:rPr>
              <a:t>Demo: the interface switches to Pidgin. Pidgin dialect output is never cut; playful mode (FR-23) is the 1st feature cut.</a:t>
            </a:r>
            <a:endParaRPr lang="en-GB" sz="1100" dirty="0"/>
          </a:p>
        </p:txBody>
      </p:sp>
      <p:sp>
        <p:nvSpPr>
          <p:cNvPr id="35" name="Requirements card"/>
          <p:cNvSpPr/>
          <p:nvPr/>
        </p:nvSpPr>
        <p:spPr>
          <a:xfrm>
            <a:off x="5806440" y="1783080"/>
            <a:ext cx="2880360" cy="2880360"/>
          </a:xfrm>
          <a:prstGeom prst="roundRect">
            <a:avLst>
              <a:gd name="adj" fmla="val 8000"/>
            </a:avLst>
          </a:prstGeom>
          <a:solidFill>
            <a:schemeClr val="bg2"/>
          </a:solidFill>
          <a:ln/>
        </p:spPr>
        <p:txBody>
          <a:bodyPr wrap="square" lIns="146304" tIns="87782" rIns="146304" bIns="87782" rtlCol="0" anchor="t"/>
          <a:lstStyle/>
          <a:p>
            <a:pPr marL="0" indent="0">
              <a:spcAft>
                <a:spcPts val="100"/>
              </a:spcAft>
              <a:buNone/>
            </a:pPr>
            <a:r>
              <a:rPr lang="en-GB" sz="1100" b="1" dirty="0">
                <a:solidFill>
                  <a:schemeClr val="accent1"/>
                </a:solidFill>
                <a:latin typeface="Arial" pitchFamily="34" charset="0"/>
                <a:ea typeface="Arial" pitchFamily="34" charset="-122"/>
                <a:cs typeface="Arial" pitchFamily="34" charset="-120"/>
              </a:rPr>
              <a:t>Functional</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FR-04</a:t>
            </a:r>
            <a:r>
              <a:rPr lang="en-GB" sz="1000" dirty="0">
                <a:solidFill>
                  <a:schemeClr val="tx1"/>
                </a:solidFill>
                <a:latin typeface="Arial" pitchFamily="34" charset="0"/>
                <a:ea typeface="Arial" pitchFamily="34" charset="-122"/>
                <a:cs typeface="Arial" pitchFamily="34" charset="-120"/>
              </a:rPr>
              <a:t>  Language and dialect detection</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FR-03</a:t>
            </a:r>
            <a:r>
              <a:rPr lang="en-GB" sz="1000" dirty="0">
                <a:solidFill>
                  <a:schemeClr val="tx1"/>
                </a:solidFill>
                <a:latin typeface="Arial" pitchFamily="34" charset="0"/>
                <a:ea typeface="Arial" pitchFamily="34" charset="-122"/>
                <a:cs typeface="Arial" pitchFamily="34" charset="-120"/>
              </a:rPr>
              <a:t>  Bilingual output</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FR-27</a:t>
            </a:r>
            <a:r>
              <a:rPr lang="en-GB" sz="1000" dirty="0">
                <a:solidFill>
                  <a:schemeClr val="tx1"/>
                </a:solidFill>
                <a:latin typeface="Arial" pitchFamily="34" charset="0"/>
                <a:ea typeface="Arial" pitchFamily="34" charset="-122"/>
                <a:cs typeface="Arial" pitchFamily="34" charset="-120"/>
              </a:rPr>
              <a:t>  Interface language picker</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FR-28</a:t>
            </a:r>
            <a:r>
              <a:rPr lang="en-GB" sz="1000" dirty="0">
                <a:solidFill>
                  <a:schemeClr val="tx1"/>
                </a:solidFill>
                <a:latin typeface="Arial" pitchFamily="34" charset="0"/>
                <a:ea typeface="Arial" pitchFamily="34" charset="-122"/>
                <a:cs typeface="Arial" pitchFamily="34" charset="-120"/>
              </a:rPr>
              <a:t>  Language registry and tiers</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FR-23</a:t>
            </a:r>
            <a:r>
              <a:rPr lang="en-GB" sz="1000" dirty="0">
                <a:solidFill>
                  <a:schemeClr val="tx1"/>
                </a:solidFill>
                <a:latin typeface="Arial" pitchFamily="34" charset="0"/>
                <a:ea typeface="Arial" pitchFamily="34" charset="-122"/>
                <a:cs typeface="Arial" pitchFamily="34" charset="-120"/>
              </a:rPr>
              <a:t>  Playful dialect mode (P3)</a:t>
            </a:r>
            <a:endParaRPr lang="en-GB" sz="1000" dirty="0"/>
          </a:p>
          <a:p>
            <a:pPr marL="0" indent="0">
              <a:spcBef>
                <a:spcPts val="500"/>
              </a:spcBef>
              <a:spcAft>
                <a:spcPts val="100"/>
              </a:spcAft>
              <a:buNone/>
            </a:pPr>
            <a:r>
              <a:rPr lang="en-GB" sz="1100" b="1" dirty="0">
                <a:solidFill>
                  <a:schemeClr val="accent1"/>
                </a:solidFill>
                <a:latin typeface="Arial" pitchFamily="34" charset="0"/>
                <a:ea typeface="Arial" pitchFamily="34" charset="-122"/>
                <a:cs typeface="Arial" pitchFamily="34" charset="-120"/>
              </a:rPr>
              <a:t>Non-functional</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NFR-10</a:t>
            </a:r>
            <a:r>
              <a:rPr lang="en-GB" sz="1000" dirty="0">
                <a:solidFill>
                  <a:schemeClr val="tx1"/>
                </a:solidFill>
                <a:latin typeface="Arial" pitchFamily="34" charset="0"/>
                <a:ea typeface="Arial" pitchFamily="34" charset="-122"/>
                <a:cs typeface="Arial" pitchFamily="34" charset="-120"/>
              </a:rPr>
              <a:t>  Accessibility (WCAG 2.1 AA)</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NFR-11</a:t>
            </a:r>
            <a:r>
              <a:rPr lang="en-GB" sz="1000" dirty="0">
                <a:solidFill>
                  <a:schemeClr val="tx1"/>
                </a:solidFill>
                <a:latin typeface="Arial" pitchFamily="34" charset="0"/>
                <a:ea typeface="Arial" pitchFamily="34" charset="-122"/>
                <a:cs typeface="Arial" pitchFamily="34" charset="-120"/>
              </a:rPr>
              <a:t>  Language quality</a:t>
            </a:r>
            <a:endParaRPr lang="en-GB"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1"/>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rPr>
              <a:t>Safety gate</a:t>
            </a:r>
            <a:endParaRPr lang="en-US" sz="3200" dirty="0"/>
          </a:p>
        </p:txBody>
      </p:sp>
      <p:sp>
        <p:nvSpPr>
          <p:cNvPr id="30" name="Epic tag"/>
          <p:cNvSpPr txBox="1"/>
          <p:nvPr/>
        </p:nvSpPr>
        <p:spPr>
          <a:xfrm>
            <a:off x="457200" y="932688"/>
            <a:ext cx="8229600" cy="256032"/>
          </a:xfrm>
          <a:prstGeom prst="rect">
            <a:avLst/>
          </a:prstGeom>
          <a:noFill/>
          <a:ln/>
        </p:spPr>
        <p:txBody>
          <a:bodyPr wrap="square" lIns="0" tIns="0" rIns="0" bIns="0" rtlCol="0" anchor="ctr"/>
          <a:lstStyle/>
          <a:p>
            <a:pPr marL="0" indent="0">
              <a:buNone/>
            </a:pPr>
            <a:r>
              <a:rPr lang="en-GB" sz="1100" b="1" dirty="0">
                <a:solidFill>
                  <a:schemeClr val="accent1"/>
                </a:solidFill>
                <a:latin typeface="Arial" pitchFamily="34" charset="0"/>
                <a:ea typeface="Arial" pitchFamily="34" charset="-122"/>
                <a:cs typeface="Arial" pitchFamily="34" charset="-120"/>
              </a:rPr>
              <a:t>EPIC 4 OF 5  ·  SHARED CAPABILITY</a:t>
            </a:r>
            <a:endParaRPr lang="en-GB" sz="1200" dirty="0"/>
          </a:p>
        </p:txBody>
      </p:sp>
      <p:sp>
        <p:nvSpPr>
          <p:cNvPr id="31" name="Epic statement"/>
          <p:cNvSpPr txBox="1"/>
          <p:nvPr/>
        </p:nvSpPr>
        <p:spPr>
          <a:xfrm>
            <a:off x="457200" y="1207008"/>
            <a:ext cx="8229600" cy="457200"/>
          </a:xfrm>
          <a:prstGeom prst="rect">
            <a:avLst/>
          </a:prstGeom>
          <a:noFill/>
          <a:ln/>
        </p:spPr>
        <p:txBody>
          <a:bodyPr wrap="square" lIns="0" tIns="0" rIns="0" bIns="0" rtlCol="0" anchor="t"/>
          <a:lstStyle/>
          <a:p>
            <a:pPr marL="0" indent="0">
              <a:buNone/>
            </a:pPr>
            <a:r>
              <a:rPr lang="en-GB" sz="1300" i="1" dirty="0">
                <a:solidFill>
                  <a:schemeClr val="tx1"/>
                </a:solidFill>
                <a:latin typeface="Arial" pitchFamily="34" charset="0"/>
                <a:ea typeface="Arial" pitchFamily="34" charset="-122"/>
                <a:cs typeface="Arial" pitchFamily="34" charset="-120"/>
              </a:rPr>
              <a:t>As anyone using CareNav, I want urgent signs caught before anything else is shown, so that I’m pointed to the right help straight away.</a:t>
            </a:r>
            <a:endParaRPr lang="en-GB" sz="1200" dirty="0"/>
          </a:p>
        </p:txBody>
      </p:sp>
      <p:sp>
        <p:nvSpPr>
          <p:cNvPr id="32" name="Stories heading"/>
          <p:cNvSpPr txBox="1"/>
          <p:nvPr/>
        </p:nvSpPr>
        <p:spPr>
          <a:xfrm>
            <a:off x="457200" y="1783080"/>
            <a:ext cx="5120640" cy="274320"/>
          </a:xfrm>
          <a:prstGeom prst="rect">
            <a:avLst/>
          </a:prstGeom>
          <a:noFill/>
          <a:ln/>
        </p:spPr>
        <p:txBody>
          <a:bodyPr wrap="square" lIns="0" tIns="0" rIns="0" bIns="0" rtlCol="0" anchor="ctr"/>
          <a:lstStyle/>
          <a:p>
            <a:pPr marL="0" indent="0">
              <a:buNone/>
            </a:pPr>
            <a:r>
              <a:rPr lang="en-GB" sz="1400" b="1" dirty="0">
                <a:solidFill>
                  <a:schemeClr val="tx2"/>
                </a:solidFill>
                <a:latin typeface="Arial" pitchFamily="34" charset="0"/>
                <a:ea typeface="Arial" pitchFamily="34" charset="-122"/>
                <a:cs typeface="Arial" pitchFamily="34" charset="-120"/>
              </a:rPr>
              <a:t>User stories</a:t>
            </a:r>
            <a:endParaRPr lang="en-GB" sz="1200" dirty="0"/>
          </a:p>
        </p:txBody>
      </p:sp>
      <p:sp>
        <p:nvSpPr>
          <p:cNvPr id="33" name="User stories"/>
          <p:cNvSpPr txBox="1"/>
          <p:nvPr/>
        </p:nvSpPr>
        <p:spPr>
          <a:xfrm>
            <a:off x="457200" y="2121408"/>
            <a:ext cx="5120640" cy="2011680"/>
          </a:xfrm>
          <a:prstGeom prst="rect">
            <a:avLst/>
          </a:prstGeom>
          <a:noFill/>
          <a:ln/>
        </p:spPr>
        <p:txBody>
          <a:bodyPr wrap="square" lIns="0" tIns="0" rIns="0" bIns="0" rtlCol="0" anchor="t"/>
          <a:lstStyle/>
          <a:p>
            <a:pPr marL="228600" indent="-228600">
              <a:spcAft>
                <a:spcPts val="700"/>
              </a:spcAft>
              <a:buSzPct val="100000"/>
              <a:buChar char="•"/>
            </a:pPr>
            <a:r>
              <a:rPr lang="en-GB" sz="1200" b="1" dirty="0">
                <a:solidFill>
                  <a:schemeClr val="tx1"/>
                </a:solidFill>
                <a:latin typeface="Arial" pitchFamily="34" charset="0"/>
                <a:ea typeface="Arial" pitchFamily="34" charset="-122"/>
                <a:cs typeface="Arial" pitchFamily="34" charset="-120"/>
              </a:rPr>
              <a:t>As a user with a red-flag symptom,</a:t>
            </a:r>
            <a:r>
              <a:rPr lang="en-GB" sz="1200" dirty="0">
                <a:solidFill>
                  <a:schemeClr val="tx1"/>
                </a:solidFill>
                <a:latin typeface="Arial" pitchFamily="34" charset="0"/>
                <a:ea typeface="Arial" pitchFamily="34" charset="-122"/>
                <a:cs typeface="Arial" pitchFamily="34" charset="-120"/>
              </a:rPr>
              <a:t> I want 999 or 111 guidance first, then to continue with an urgent banner.</a:t>
            </a:r>
            <a:r>
              <a:rPr lang="en-GB" sz="1000" b="1" dirty="0">
                <a:solidFill>
                  <a:schemeClr val="accent1"/>
                </a:solidFill>
                <a:latin typeface="Arial" pitchFamily="34" charset="0"/>
                <a:ea typeface="Arial" pitchFamily="34" charset="-122"/>
                <a:cs typeface="Arial" pitchFamily="34" charset="-120"/>
              </a:rPr>
              <a:t>  FR-05  FR-24  NFR-01</a:t>
            </a:r>
            <a:endParaRPr lang="en-GB" sz="1200" dirty="0"/>
          </a:p>
          <a:p>
            <a:pPr marL="228600" indent="-228600">
              <a:spcAft>
                <a:spcPts val="700"/>
              </a:spcAft>
              <a:buSzPct val="100000"/>
              <a:buChar char="•"/>
            </a:pPr>
            <a:r>
              <a:rPr lang="en-GB" sz="1200" b="1" dirty="0">
                <a:solidFill>
                  <a:schemeClr val="tx1"/>
                </a:solidFill>
                <a:latin typeface="Arial" pitchFamily="34" charset="0"/>
                <a:ea typeface="Arial" pitchFamily="34" charset="-122"/>
                <a:cs typeface="Arial" pitchFamily="34" charset="-120"/>
              </a:rPr>
              <a:t>As a user in crisis,</a:t>
            </a:r>
            <a:r>
              <a:rPr lang="en-GB" sz="1200" dirty="0">
                <a:solidFill>
                  <a:schemeClr val="tx1"/>
                </a:solidFill>
                <a:latin typeface="Arial" pitchFamily="34" charset="0"/>
                <a:ea typeface="Arial" pitchFamily="34" charset="-122"/>
                <a:cs typeface="Arial" pitchFamily="34" charset="-120"/>
              </a:rPr>
              <a:t> I want Samaritans (116 123) and 999 shown straight away.</a:t>
            </a:r>
            <a:r>
              <a:rPr lang="en-GB" sz="1000" b="1" dirty="0">
                <a:solidFill>
                  <a:schemeClr val="accent1"/>
                </a:solidFill>
                <a:latin typeface="Arial" pitchFamily="34" charset="0"/>
                <a:ea typeface="Arial" pitchFamily="34" charset="-122"/>
                <a:cs typeface="Arial" pitchFamily="34" charset="-120"/>
              </a:rPr>
              <a:t>  FR-05</a:t>
            </a:r>
            <a:endParaRPr lang="en-GB" sz="1200" dirty="0"/>
          </a:p>
          <a:p>
            <a:pPr marL="228600" indent="-228600">
              <a:spcAft>
                <a:spcPts val="700"/>
              </a:spcAft>
              <a:buSzPct val="100000"/>
              <a:buChar char="•"/>
            </a:pPr>
            <a:r>
              <a:rPr lang="en-GB" sz="1200" b="1" dirty="0">
                <a:solidFill>
                  <a:schemeClr val="tx1"/>
                </a:solidFill>
                <a:latin typeface="Arial" pitchFamily="34" charset="0"/>
                <a:ea typeface="Arial" pitchFamily="34" charset="-122"/>
                <a:cs typeface="Arial" pitchFamily="34" charset="-120"/>
              </a:rPr>
              <a:t>As a user whose letter says “urgent referral”,</a:t>
            </a:r>
            <a:r>
              <a:rPr lang="en-GB" sz="1200" dirty="0">
                <a:solidFill>
                  <a:schemeClr val="tx1"/>
                </a:solidFill>
                <a:latin typeface="Arial" pitchFamily="34" charset="0"/>
                <a:ea typeface="Arial" pitchFamily="34" charset="-122"/>
                <a:cs typeface="Arial" pitchFamily="34" charset="-120"/>
              </a:rPr>
              <a:t> I want that wording quoted with the urgent message first.</a:t>
            </a:r>
            <a:r>
              <a:rPr lang="en-GB" sz="1000" b="1" dirty="0">
                <a:solidFill>
                  <a:schemeClr val="accent1"/>
                </a:solidFill>
                <a:latin typeface="Arial" pitchFamily="34" charset="0"/>
                <a:ea typeface="Arial" pitchFamily="34" charset="-122"/>
                <a:cs typeface="Arial" pitchFamily="34" charset="-120"/>
              </a:rPr>
              <a:t>  FR-05  NFR-17</a:t>
            </a:r>
            <a:endParaRPr lang="en-GB" sz="1200" dirty="0"/>
          </a:p>
          <a:p>
            <a:pPr marL="228600" indent="-228600">
              <a:spcAft>
                <a:spcPts val="700"/>
              </a:spcAft>
              <a:buSzPct val="100000"/>
              <a:buChar char="•"/>
            </a:pPr>
            <a:r>
              <a:rPr lang="en-GB" sz="1200" b="1" dirty="0">
                <a:solidFill>
                  <a:schemeClr val="tx1"/>
                </a:solidFill>
                <a:latin typeface="Arial" pitchFamily="34" charset="0"/>
                <a:ea typeface="Arial" pitchFamily="34" charset="-122"/>
                <a:cs typeface="Arial" pitchFamily="34" charset="-120"/>
              </a:rPr>
              <a:t>As the clinical adviser,</a:t>
            </a:r>
            <a:r>
              <a:rPr lang="en-GB" sz="1200" dirty="0">
                <a:solidFill>
                  <a:schemeClr val="tx1"/>
                </a:solidFill>
                <a:latin typeface="Arial" pitchFamily="34" charset="0"/>
                <a:ea typeface="Arial" pitchFamily="34" charset="-122"/>
                <a:cs typeface="Arial" pitchFamily="34" charset="-120"/>
              </a:rPr>
              <a:t> I want a locked mode by configuration, and a DRAFT label until I sign off.</a:t>
            </a:r>
            <a:r>
              <a:rPr lang="en-GB" sz="1000" b="1" dirty="0">
                <a:solidFill>
                  <a:schemeClr val="accent1"/>
                </a:solidFill>
                <a:latin typeface="Arial" pitchFamily="34" charset="0"/>
                <a:ea typeface="Arial" pitchFamily="34" charset="-122"/>
                <a:cs typeface="Arial" pitchFamily="34" charset="-120"/>
              </a:rPr>
              <a:t>  FR-24  FR-29  NFR-18</a:t>
            </a:r>
            <a:endParaRPr lang="en-GB" sz="1200" dirty="0"/>
          </a:p>
        </p:txBody>
      </p:sp>
      <p:sp>
        <p:nvSpPr>
          <p:cNvPr id="34" name="Demo and priority"/>
          <p:cNvSpPr/>
          <p:nvPr/>
        </p:nvSpPr>
        <p:spPr>
          <a:xfrm>
            <a:off x="457200" y="4187952"/>
            <a:ext cx="5120640" cy="475488"/>
          </a:xfrm>
          <a:prstGeom prst="roundRect">
            <a:avLst>
              <a:gd name="adj" fmla="val 8000"/>
            </a:avLst>
          </a:prstGeom>
          <a:solidFill>
            <a:schemeClr val="accent1"/>
          </a:solidFill>
          <a:ln/>
        </p:spPr>
        <p:txBody>
          <a:bodyPr wrap="square" lIns="137160" tIns="82296" rIns="137160" bIns="82296" rtlCol="0" anchor="ctr"/>
          <a:lstStyle/>
          <a:p>
            <a:pPr marL="0" indent="0">
              <a:buNone/>
            </a:pPr>
            <a:r>
              <a:rPr lang="en-GB" sz="1100" dirty="0">
                <a:solidFill>
                  <a:schemeClr val="bg1"/>
                </a:solidFill>
                <a:latin typeface="Arial" pitchFamily="34" charset="0"/>
                <a:ea typeface="Arial" pitchFamily="34" charset="-122"/>
                <a:cs typeface="Arial" pitchFamily="34" charset="-120"/>
              </a:rPr>
              <a:t>Demo: a red-flag input shows the urgent message first. Never cut. Any screening failure counts as urgent.</a:t>
            </a:r>
            <a:endParaRPr lang="en-GB" sz="1100" dirty="0"/>
          </a:p>
        </p:txBody>
      </p:sp>
      <p:sp>
        <p:nvSpPr>
          <p:cNvPr id="35" name="Requirements card"/>
          <p:cNvSpPr/>
          <p:nvPr/>
        </p:nvSpPr>
        <p:spPr>
          <a:xfrm>
            <a:off x="5806440" y="1783080"/>
            <a:ext cx="2880360" cy="2880360"/>
          </a:xfrm>
          <a:prstGeom prst="roundRect">
            <a:avLst>
              <a:gd name="adj" fmla="val 8000"/>
            </a:avLst>
          </a:prstGeom>
          <a:solidFill>
            <a:schemeClr val="bg2"/>
          </a:solidFill>
          <a:ln/>
        </p:spPr>
        <p:txBody>
          <a:bodyPr wrap="square" lIns="146304" tIns="87782" rIns="146304" bIns="87782" rtlCol="0" anchor="t"/>
          <a:lstStyle/>
          <a:p>
            <a:pPr marL="0" indent="0">
              <a:spcAft>
                <a:spcPts val="100"/>
              </a:spcAft>
              <a:buNone/>
            </a:pPr>
            <a:r>
              <a:rPr lang="en-GB" sz="1100" b="1" dirty="0">
                <a:solidFill>
                  <a:schemeClr val="accent1"/>
                </a:solidFill>
                <a:latin typeface="Arial" pitchFamily="34" charset="0"/>
                <a:ea typeface="Arial" pitchFamily="34" charset="-122"/>
                <a:cs typeface="Arial" pitchFamily="34" charset="-120"/>
              </a:rPr>
              <a:t>Functional</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FR-05</a:t>
            </a:r>
            <a:r>
              <a:rPr lang="en-GB" sz="1000" dirty="0">
                <a:solidFill>
                  <a:schemeClr val="tx1"/>
                </a:solidFill>
                <a:latin typeface="Arial" pitchFamily="34" charset="0"/>
                <a:ea typeface="Arial" pitchFamily="34" charset="-122"/>
                <a:cs typeface="Arial" pitchFamily="34" charset="-120"/>
              </a:rPr>
              <a:t>  Urgency detection</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FR-24</a:t>
            </a:r>
            <a:r>
              <a:rPr lang="en-GB" sz="1000" dirty="0">
                <a:solidFill>
                  <a:schemeClr val="tx1"/>
                </a:solidFill>
                <a:latin typeface="Arial" pitchFamily="34" charset="0"/>
                <a:ea typeface="Arial" pitchFamily="34" charset="-122"/>
                <a:cs typeface="Arial" pitchFamily="34" charset="-120"/>
              </a:rPr>
              <a:t>  Urgent behaviour setting</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FR-29</a:t>
            </a:r>
            <a:r>
              <a:rPr lang="en-GB" sz="1000" dirty="0">
                <a:solidFill>
                  <a:schemeClr val="tx1"/>
                </a:solidFill>
                <a:latin typeface="Arial" pitchFamily="34" charset="0"/>
                <a:ea typeface="Arial" pitchFamily="34" charset="-122"/>
                <a:cs typeface="Arial" pitchFamily="34" charset="-120"/>
              </a:rPr>
              <a:t>  DRAFT safety label setting</a:t>
            </a:r>
            <a:endParaRPr lang="en-GB" sz="1000" dirty="0"/>
          </a:p>
          <a:p>
            <a:pPr marL="0" indent="0">
              <a:spcBef>
                <a:spcPts val="500"/>
              </a:spcBef>
              <a:spcAft>
                <a:spcPts val="100"/>
              </a:spcAft>
              <a:buNone/>
            </a:pPr>
            <a:r>
              <a:rPr lang="en-GB" sz="1100" b="1" dirty="0">
                <a:solidFill>
                  <a:schemeClr val="accent1"/>
                </a:solidFill>
                <a:latin typeface="Arial" pitchFamily="34" charset="0"/>
                <a:ea typeface="Arial" pitchFamily="34" charset="-122"/>
                <a:cs typeface="Arial" pitchFamily="34" charset="-120"/>
              </a:rPr>
              <a:t>Non-functional</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NFR-01</a:t>
            </a:r>
            <a:r>
              <a:rPr lang="en-GB" sz="1000" dirty="0">
                <a:solidFill>
                  <a:schemeClr val="tx1"/>
                </a:solidFill>
                <a:latin typeface="Arial" pitchFamily="34" charset="0"/>
                <a:ea typeface="Arial" pitchFamily="34" charset="-122"/>
                <a:cs typeface="Arial" pitchFamily="34" charset="-120"/>
              </a:rPr>
              <a:t>  Safety</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NFR-17</a:t>
            </a:r>
            <a:r>
              <a:rPr lang="en-GB" sz="1000" dirty="0">
                <a:solidFill>
                  <a:schemeClr val="tx1"/>
                </a:solidFill>
                <a:latin typeface="Arial" pitchFamily="34" charset="0"/>
                <a:ea typeface="Arial" pitchFamily="34" charset="-122"/>
                <a:cs typeface="Arial" pitchFamily="34" charset="-120"/>
              </a:rPr>
              <a:t>  Observability</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NFR-18</a:t>
            </a:r>
            <a:r>
              <a:rPr lang="en-GB" sz="1000" dirty="0">
                <a:solidFill>
                  <a:schemeClr val="tx1"/>
                </a:solidFill>
                <a:latin typeface="Arial" pitchFamily="34" charset="0"/>
                <a:ea typeface="Arial" pitchFamily="34" charset="-122"/>
                <a:cs typeface="Arial" pitchFamily="34" charset="-120"/>
              </a:rPr>
              <a:t>  Hosting and compliance</a:t>
            </a:r>
            <a:endParaRPr lang="en-GB"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1"/>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rPr>
              <a:t>Trust, access and operations</a:t>
            </a:r>
            <a:endParaRPr lang="en-US" sz="3200" dirty="0"/>
          </a:p>
        </p:txBody>
      </p:sp>
      <p:sp>
        <p:nvSpPr>
          <p:cNvPr id="30" name="Epic tag"/>
          <p:cNvSpPr txBox="1"/>
          <p:nvPr/>
        </p:nvSpPr>
        <p:spPr>
          <a:xfrm>
            <a:off x="457200" y="932688"/>
            <a:ext cx="8229600" cy="256032"/>
          </a:xfrm>
          <a:prstGeom prst="rect">
            <a:avLst/>
          </a:prstGeom>
          <a:noFill/>
          <a:ln/>
        </p:spPr>
        <p:txBody>
          <a:bodyPr wrap="square" lIns="0" tIns="0" rIns="0" bIns="0" rtlCol="0" anchor="ctr"/>
          <a:lstStyle/>
          <a:p>
            <a:pPr marL="0" indent="0">
              <a:buNone/>
            </a:pPr>
            <a:r>
              <a:rPr lang="en-GB" sz="1100" b="1" dirty="0">
                <a:solidFill>
                  <a:schemeClr val="accent1"/>
                </a:solidFill>
                <a:latin typeface="Arial" pitchFamily="34" charset="0"/>
                <a:ea typeface="Arial" pitchFamily="34" charset="-122"/>
                <a:cs typeface="Arial" pitchFamily="34" charset="-120"/>
              </a:rPr>
              <a:t>EPIC 5 OF 5  ·  SHARED CAPABILITY</a:t>
            </a:r>
            <a:endParaRPr lang="en-GB" sz="1200" dirty="0"/>
          </a:p>
        </p:txBody>
      </p:sp>
      <p:sp>
        <p:nvSpPr>
          <p:cNvPr id="31" name="Epic statement"/>
          <p:cNvSpPr txBox="1"/>
          <p:nvPr/>
        </p:nvSpPr>
        <p:spPr>
          <a:xfrm>
            <a:off x="457200" y="1207008"/>
            <a:ext cx="8229600" cy="457200"/>
          </a:xfrm>
          <a:prstGeom prst="rect">
            <a:avLst/>
          </a:prstGeom>
          <a:noFill/>
          <a:ln/>
        </p:spPr>
        <p:txBody>
          <a:bodyPr wrap="square" lIns="0" tIns="0" rIns="0" bIns="0" rtlCol="0" anchor="t"/>
          <a:lstStyle/>
          <a:p>
            <a:pPr marL="0" indent="0">
              <a:buNone/>
            </a:pPr>
            <a:r>
              <a:rPr lang="en-GB" sz="1300" i="1" dirty="0">
                <a:solidFill>
                  <a:schemeClr val="tx1"/>
                </a:solidFill>
                <a:latin typeface="Arial" pitchFamily="34" charset="0"/>
                <a:ea typeface="Arial" pitchFamily="34" charset="-122"/>
                <a:cs typeface="Arial" pitchFamily="34" charset="-120"/>
              </a:rPr>
              <a:t>As a user, I want my data private by default; as the team, we want the pilot affordable and measurable, so that it’s safe to run and we can prove it works.</a:t>
            </a:r>
            <a:endParaRPr lang="en-GB" sz="1200" dirty="0"/>
          </a:p>
        </p:txBody>
      </p:sp>
      <p:sp>
        <p:nvSpPr>
          <p:cNvPr id="32" name="Stories heading"/>
          <p:cNvSpPr txBox="1"/>
          <p:nvPr/>
        </p:nvSpPr>
        <p:spPr>
          <a:xfrm>
            <a:off x="457200" y="1783080"/>
            <a:ext cx="5120640" cy="274320"/>
          </a:xfrm>
          <a:prstGeom prst="rect">
            <a:avLst/>
          </a:prstGeom>
          <a:noFill/>
          <a:ln/>
        </p:spPr>
        <p:txBody>
          <a:bodyPr wrap="square" lIns="0" tIns="0" rIns="0" bIns="0" rtlCol="0" anchor="ctr"/>
          <a:lstStyle/>
          <a:p>
            <a:pPr marL="0" indent="0">
              <a:buNone/>
            </a:pPr>
            <a:r>
              <a:rPr lang="en-GB" sz="1400" b="1" dirty="0">
                <a:solidFill>
                  <a:schemeClr val="tx2"/>
                </a:solidFill>
                <a:latin typeface="Arial" pitchFamily="34" charset="0"/>
                <a:ea typeface="Arial" pitchFamily="34" charset="-122"/>
                <a:cs typeface="Arial" pitchFamily="34" charset="-120"/>
              </a:rPr>
              <a:t>User stories</a:t>
            </a:r>
            <a:endParaRPr lang="en-GB" sz="1200" dirty="0"/>
          </a:p>
        </p:txBody>
      </p:sp>
      <p:sp>
        <p:nvSpPr>
          <p:cNvPr id="33" name="User stories"/>
          <p:cNvSpPr txBox="1"/>
          <p:nvPr/>
        </p:nvSpPr>
        <p:spPr>
          <a:xfrm>
            <a:off x="457200" y="2121408"/>
            <a:ext cx="5120640" cy="2011680"/>
          </a:xfrm>
          <a:prstGeom prst="rect">
            <a:avLst/>
          </a:prstGeom>
          <a:noFill/>
          <a:ln/>
        </p:spPr>
        <p:txBody>
          <a:bodyPr wrap="square" lIns="0" tIns="0" rIns="0" bIns="0" rtlCol="0" anchor="t"/>
          <a:lstStyle/>
          <a:p>
            <a:pPr marL="228600" indent="-228600">
              <a:spcAft>
                <a:spcPts val="700"/>
              </a:spcAft>
              <a:buSzPct val="100000"/>
              <a:buChar char="•"/>
            </a:pPr>
            <a:r>
              <a:rPr lang="en-GB" sz="1200" b="1" dirty="0">
                <a:solidFill>
                  <a:schemeClr val="tx1"/>
                </a:solidFill>
                <a:latin typeface="Arial" pitchFamily="34" charset="0"/>
                <a:ea typeface="Arial" pitchFamily="34" charset="-122"/>
                <a:cs typeface="Arial" pitchFamily="34" charset="-120"/>
              </a:rPr>
              <a:t>As a first-time user,</a:t>
            </a:r>
            <a:r>
              <a:rPr lang="en-GB" sz="1200" dirty="0">
                <a:solidFill>
                  <a:schemeClr val="tx1"/>
                </a:solidFill>
                <a:latin typeface="Arial" pitchFamily="34" charset="0"/>
                <a:ea typeface="Arial" pitchFamily="34" charset="-122"/>
                <a:cs typeface="Arial" pitchFamily="34" charset="-120"/>
              </a:rPr>
              <a:t> I want everything to work without an account, and to be told my text goes to an AI provider.</a:t>
            </a:r>
            <a:r>
              <a:rPr lang="en-GB" sz="1000" b="1" dirty="0">
                <a:solidFill>
                  <a:schemeClr val="accent1"/>
                </a:solidFill>
                <a:latin typeface="Arial" pitchFamily="34" charset="0"/>
                <a:ea typeface="Arial" pitchFamily="34" charset="-122"/>
                <a:cs typeface="Arial" pitchFamily="34" charset="-120"/>
              </a:rPr>
              <a:t>  FR-11  NFR-03  NFR-07</a:t>
            </a:r>
            <a:endParaRPr lang="en-GB" sz="1200" dirty="0"/>
          </a:p>
          <a:p>
            <a:pPr marL="228600" indent="-228600">
              <a:spcAft>
                <a:spcPts val="700"/>
              </a:spcAft>
              <a:buSzPct val="100000"/>
              <a:buChar char="•"/>
            </a:pPr>
            <a:r>
              <a:rPr lang="en-GB" sz="1200" b="1" dirty="0">
                <a:solidFill>
                  <a:schemeClr val="tx1"/>
                </a:solidFill>
                <a:latin typeface="Arial" pitchFamily="34" charset="0"/>
                <a:ea typeface="Arial" pitchFamily="34" charset="-122"/>
                <a:cs typeface="Arial" pitchFamily="34" charset="-120"/>
              </a:rPr>
              <a:t>As a returning user,</a:t>
            </a:r>
            <a:r>
              <a:rPr lang="en-GB" sz="1200" dirty="0">
                <a:solidFill>
                  <a:schemeClr val="tx1"/>
                </a:solidFill>
                <a:latin typeface="Arial" pitchFamily="34" charset="0"/>
                <a:ea typeface="Arial" pitchFamily="34" charset="-122"/>
                <a:cs typeface="Arial" pitchFamily="34" charset="-120"/>
              </a:rPr>
              <a:t> I want an optional account to save, re-download, delete or export my summaries.</a:t>
            </a:r>
            <a:r>
              <a:rPr lang="en-GB" sz="1000" b="1" dirty="0">
                <a:solidFill>
                  <a:schemeClr val="accent1"/>
                </a:solidFill>
                <a:latin typeface="Arial" pitchFamily="34" charset="0"/>
                <a:ea typeface="Arial" pitchFamily="34" charset="-122"/>
                <a:cs typeface="Arial" pitchFamily="34" charset="-120"/>
              </a:rPr>
              <a:t>  FR-12/13  FR-14  NFR-04  NFR-06  NFR-08</a:t>
            </a:r>
            <a:endParaRPr lang="en-GB" sz="1200" dirty="0"/>
          </a:p>
          <a:p>
            <a:pPr marL="228600" indent="-228600">
              <a:spcAft>
                <a:spcPts val="700"/>
              </a:spcAft>
              <a:buSzPct val="100000"/>
              <a:buChar char="•"/>
            </a:pPr>
            <a:r>
              <a:rPr lang="en-GB" sz="1200" b="1" dirty="0">
                <a:solidFill>
                  <a:schemeClr val="tx1"/>
                </a:solidFill>
                <a:latin typeface="Arial" pitchFamily="34" charset="0"/>
                <a:ea typeface="Arial" pitchFamily="34" charset="-122"/>
                <a:cs typeface="Arial" pitchFamily="34" charset="-120"/>
              </a:rPr>
              <a:t>As the product team,</a:t>
            </a:r>
            <a:r>
              <a:rPr lang="en-GB" sz="1200" dirty="0">
                <a:solidFill>
                  <a:schemeClr val="tx1"/>
                </a:solidFill>
                <a:latin typeface="Arial" pitchFamily="34" charset="0"/>
                <a:ea typeface="Arial" pitchFamily="34" charset="-122"/>
                <a:cs typeface="Arial" pitchFamily="34" charset="-120"/>
              </a:rPr>
              <a:t> I want a hard spend cap and usage page that never stop the safety gate.</a:t>
            </a:r>
            <a:r>
              <a:rPr lang="en-GB" sz="1000" b="1" dirty="0">
                <a:solidFill>
                  <a:schemeClr val="accent1"/>
                </a:solidFill>
                <a:latin typeface="Arial" pitchFamily="34" charset="0"/>
                <a:ea typeface="Arial" pitchFamily="34" charset="-122"/>
                <a:cs typeface="Arial" pitchFamily="34" charset="-120"/>
              </a:rPr>
              <a:t>  FR-15  FR-25  NFR-13  NFR-16</a:t>
            </a:r>
            <a:endParaRPr lang="en-GB" sz="1200" dirty="0"/>
          </a:p>
          <a:p>
            <a:pPr marL="228600" indent="-228600">
              <a:spcAft>
                <a:spcPts val="700"/>
              </a:spcAft>
              <a:buSzPct val="100000"/>
              <a:buChar char="•"/>
            </a:pPr>
            <a:r>
              <a:rPr lang="en-GB" sz="1200" b="1" dirty="0">
                <a:solidFill>
                  <a:schemeClr val="tx1"/>
                </a:solidFill>
                <a:latin typeface="Arial" pitchFamily="34" charset="0"/>
                <a:ea typeface="Arial" pitchFamily="34" charset="-122"/>
                <a:cs typeface="Arial" pitchFamily="34" charset="-120"/>
              </a:rPr>
              <a:t>As the product lead,</a:t>
            </a:r>
            <a:r>
              <a:rPr lang="en-GB" sz="1200" dirty="0">
                <a:solidFill>
                  <a:schemeClr val="tx1"/>
                </a:solidFill>
                <a:latin typeface="Arial" pitchFamily="34" charset="0"/>
                <a:ea typeface="Arial" pitchFamily="34" charset="-122"/>
                <a:cs typeface="Arial" pitchFamily="34" charset="-120"/>
              </a:rPr>
              <a:t> I want anonymous user and clinician feedback, so we can measure the pilot targets.</a:t>
            </a:r>
            <a:r>
              <a:rPr lang="en-GB" sz="1000" b="1" dirty="0">
                <a:solidFill>
                  <a:schemeClr val="accent1"/>
                </a:solidFill>
                <a:latin typeface="Arial" pitchFamily="34" charset="0"/>
                <a:ea typeface="Arial" pitchFamily="34" charset="-122"/>
                <a:cs typeface="Arial" pitchFamily="34" charset="-120"/>
              </a:rPr>
              <a:t>  FR-16  NFR-09</a:t>
            </a:r>
            <a:endParaRPr lang="en-GB" sz="1200" dirty="0"/>
          </a:p>
        </p:txBody>
      </p:sp>
      <p:sp>
        <p:nvSpPr>
          <p:cNvPr id="34" name="Demo and priority"/>
          <p:cNvSpPr/>
          <p:nvPr/>
        </p:nvSpPr>
        <p:spPr>
          <a:xfrm>
            <a:off x="457200" y="4187952"/>
            <a:ext cx="5120640" cy="475488"/>
          </a:xfrm>
          <a:prstGeom prst="roundRect">
            <a:avLst>
              <a:gd name="adj" fmla="val 8000"/>
            </a:avLst>
          </a:prstGeom>
          <a:solidFill>
            <a:schemeClr val="accent1"/>
          </a:solidFill>
          <a:ln/>
        </p:spPr>
        <p:txBody>
          <a:bodyPr wrap="square" lIns="137160" tIns="82296" rIns="137160" bIns="82296" rtlCol="0" anchor="ctr"/>
          <a:lstStyle/>
          <a:p>
            <a:pPr marL="0" indent="0">
              <a:buNone/>
            </a:pPr>
            <a:r>
              <a:rPr lang="en-GB" sz="1100" dirty="0">
                <a:solidFill>
                  <a:schemeClr val="bg1"/>
                </a:solidFill>
                <a:latin typeface="Arial" pitchFamily="34" charset="0"/>
                <a:ea typeface="Arial" pitchFamily="34" charset="-122"/>
                <a:cs typeface="Arial" pitchFamily="34" charset="-120"/>
              </a:rPr>
              <a:t>Demo: a hidden menu makes the recording repeatable (FR-26). Accounts appear as static screens; guest access is never cut.</a:t>
            </a:r>
            <a:endParaRPr lang="en-GB" sz="1100" dirty="0"/>
          </a:p>
        </p:txBody>
      </p:sp>
      <p:sp>
        <p:nvSpPr>
          <p:cNvPr id="35" name="Requirements card"/>
          <p:cNvSpPr/>
          <p:nvPr/>
        </p:nvSpPr>
        <p:spPr>
          <a:xfrm>
            <a:off x="5806440" y="1783080"/>
            <a:ext cx="2880360" cy="2880360"/>
          </a:xfrm>
          <a:prstGeom prst="roundRect">
            <a:avLst>
              <a:gd name="adj" fmla="val 8000"/>
            </a:avLst>
          </a:prstGeom>
          <a:solidFill>
            <a:schemeClr val="bg2"/>
          </a:solidFill>
          <a:ln/>
        </p:spPr>
        <p:txBody>
          <a:bodyPr wrap="square" lIns="146304" tIns="87782" rIns="146304" bIns="87782" rtlCol="0" anchor="t"/>
          <a:lstStyle/>
          <a:p>
            <a:pPr marL="0" indent="0">
              <a:spcAft>
                <a:spcPts val="100"/>
              </a:spcAft>
              <a:buNone/>
            </a:pPr>
            <a:r>
              <a:rPr lang="en-GB" sz="1100" b="1" dirty="0">
                <a:solidFill>
                  <a:schemeClr val="accent1"/>
                </a:solidFill>
                <a:latin typeface="Arial" pitchFamily="34" charset="0"/>
                <a:ea typeface="Arial" pitchFamily="34" charset="-122"/>
                <a:cs typeface="Arial" pitchFamily="34" charset="-120"/>
              </a:rPr>
              <a:t>Functional</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FR-11</a:t>
            </a:r>
            <a:r>
              <a:rPr lang="en-GB" sz="1000" dirty="0">
                <a:solidFill>
                  <a:schemeClr val="tx1"/>
                </a:solidFill>
                <a:latin typeface="Arial" pitchFamily="34" charset="0"/>
                <a:ea typeface="Arial" pitchFamily="34" charset="-122"/>
                <a:cs typeface="Arial" pitchFamily="34" charset="-120"/>
              </a:rPr>
              <a:t>  Guest access</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FR-12/13</a:t>
            </a:r>
            <a:r>
              <a:rPr lang="en-GB" sz="1000" dirty="0">
                <a:solidFill>
                  <a:schemeClr val="tx1"/>
                </a:solidFill>
                <a:latin typeface="Arial" pitchFamily="34" charset="0"/>
                <a:ea typeface="Arial" pitchFamily="34" charset="-122"/>
                <a:cs typeface="Arial" pitchFamily="34" charset="-120"/>
              </a:rPr>
              <a:t>  Accounts</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FR-14</a:t>
            </a:r>
            <a:r>
              <a:rPr lang="en-GB" sz="1000" dirty="0">
                <a:solidFill>
                  <a:schemeClr val="tx1"/>
                </a:solidFill>
                <a:latin typeface="Arial" pitchFamily="34" charset="0"/>
                <a:ea typeface="Arial" pitchFamily="34" charset="-122"/>
                <a:cs typeface="Arial" pitchFamily="34" charset="-120"/>
              </a:rPr>
              <a:t>  Save and view summaries</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FR-15</a:t>
            </a:r>
            <a:r>
              <a:rPr lang="en-GB" sz="1000" dirty="0">
                <a:solidFill>
                  <a:schemeClr val="tx1"/>
                </a:solidFill>
                <a:latin typeface="Arial" pitchFamily="34" charset="0"/>
                <a:ea typeface="Arial" pitchFamily="34" charset="-122"/>
                <a:cs typeface="Arial" pitchFamily="34" charset="-120"/>
              </a:rPr>
              <a:t>  Usage controls</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FR-16</a:t>
            </a:r>
            <a:r>
              <a:rPr lang="en-GB" sz="1000" dirty="0">
                <a:solidFill>
                  <a:schemeClr val="tx1"/>
                </a:solidFill>
                <a:latin typeface="Arial" pitchFamily="34" charset="0"/>
                <a:ea typeface="Arial" pitchFamily="34" charset="-122"/>
                <a:cs typeface="Arial" pitchFamily="34" charset="-120"/>
              </a:rPr>
              <a:t>  Feedback capture</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FR-25</a:t>
            </a:r>
            <a:r>
              <a:rPr lang="en-GB" sz="1000" dirty="0">
                <a:solidFill>
                  <a:schemeClr val="tx1"/>
                </a:solidFill>
                <a:latin typeface="Arial" pitchFamily="34" charset="0"/>
                <a:ea typeface="Arial" pitchFamily="34" charset="-122"/>
                <a:cs typeface="Arial" pitchFamily="34" charset="-120"/>
              </a:rPr>
              <a:t>  Admin usage page</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FR-26</a:t>
            </a:r>
            <a:r>
              <a:rPr lang="en-GB" sz="1000" dirty="0">
                <a:solidFill>
                  <a:schemeClr val="tx1"/>
                </a:solidFill>
                <a:latin typeface="Arial" pitchFamily="34" charset="0"/>
                <a:ea typeface="Arial" pitchFamily="34" charset="-122"/>
                <a:cs typeface="Arial" pitchFamily="34" charset="-120"/>
              </a:rPr>
              <a:t>  Demo and test mode</a:t>
            </a:r>
            <a:endParaRPr lang="en-GB" sz="1000" dirty="0"/>
          </a:p>
          <a:p>
            <a:pPr marL="0" indent="0">
              <a:spcBef>
                <a:spcPts val="500"/>
              </a:spcBef>
              <a:spcAft>
                <a:spcPts val="100"/>
              </a:spcAft>
              <a:buNone/>
            </a:pPr>
            <a:r>
              <a:rPr lang="en-GB" sz="1100" b="1" dirty="0">
                <a:solidFill>
                  <a:schemeClr val="accent1"/>
                </a:solidFill>
                <a:latin typeface="Arial" pitchFamily="34" charset="0"/>
                <a:ea typeface="Arial" pitchFamily="34" charset="-122"/>
                <a:cs typeface="Arial" pitchFamily="34" charset="-120"/>
              </a:rPr>
              <a:t>Non-functional</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NFR-03</a:t>
            </a:r>
            <a:r>
              <a:rPr lang="en-GB" sz="1000" dirty="0">
                <a:solidFill>
                  <a:schemeClr val="tx1"/>
                </a:solidFill>
                <a:latin typeface="Arial" pitchFamily="34" charset="0"/>
                <a:ea typeface="Arial" pitchFamily="34" charset="-122"/>
                <a:cs typeface="Arial" pitchFamily="34" charset="-120"/>
              </a:rPr>
              <a:t>  Privacy (guest)</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NFR-04</a:t>
            </a:r>
            <a:r>
              <a:rPr lang="en-GB" sz="1000" dirty="0">
                <a:solidFill>
                  <a:schemeClr val="tx1"/>
                </a:solidFill>
                <a:latin typeface="Arial" pitchFamily="34" charset="0"/>
                <a:ea typeface="Arial" pitchFamily="34" charset="-122"/>
                <a:cs typeface="Arial" pitchFamily="34" charset="-120"/>
              </a:rPr>
              <a:t>  Privacy (registered)</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NFR-06</a:t>
            </a:r>
            <a:r>
              <a:rPr lang="en-GB" sz="1000" dirty="0">
                <a:solidFill>
                  <a:schemeClr val="tx1"/>
                </a:solidFill>
                <a:latin typeface="Arial" pitchFamily="34" charset="0"/>
                <a:ea typeface="Arial" pitchFamily="34" charset="-122"/>
                <a:cs typeface="Arial" pitchFamily="34" charset="-120"/>
              </a:rPr>
              <a:t>  User rights</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NFR-07</a:t>
            </a:r>
            <a:r>
              <a:rPr lang="en-GB" sz="1000" dirty="0">
                <a:solidFill>
                  <a:schemeClr val="tx1"/>
                </a:solidFill>
                <a:latin typeface="Arial" pitchFamily="34" charset="0"/>
                <a:ea typeface="Arial" pitchFamily="34" charset="-122"/>
                <a:cs typeface="Arial" pitchFamily="34" charset="-120"/>
              </a:rPr>
              <a:t>  AI provider terms</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NFR-08</a:t>
            </a:r>
            <a:r>
              <a:rPr lang="en-GB" sz="1000" dirty="0">
                <a:solidFill>
                  <a:schemeClr val="tx1"/>
                </a:solidFill>
                <a:latin typeface="Arial" pitchFamily="34" charset="0"/>
                <a:ea typeface="Arial" pitchFamily="34" charset="-122"/>
                <a:cs typeface="Arial" pitchFamily="34" charset="-120"/>
              </a:rPr>
              <a:t>  Authentication</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NFR-09</a:t>
            </a:r>
            <a:r>
              <a:rPr lang="en-GB" sz="1000" dirty="0">
                <a:solidFill>
                  <a:schemeClr val="tx1"/>
                </a:solidFill>
                <a:latin typeface="Arial" pitchFamily="34" charset="0"/>
                <a:ea typeface="Arial" pitchFamily="34" charset="-122"/>
                <a:cs typeface="Arial" pitchFamily="34" charset="-120"/>
              </a:rPr>
              <a:t>  Security</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NFR-13</a:t>
            </a:r>
            <a:r>
              <a:rPr lang="en-GB" sz="1000" dirty="0">
                <a:solidFill>
                  <a:schemeClr val="tx1"/>
                </a:solidFill>
                <a:latin typeface="Arial" pitchFamily="34" charset="0"/>
                <a:ea typeface="Arial" pitchFamily="34" charset="-122"/>
                <a:cs typeface="Arial" pitchFamily="34" charset="-120"/>
              </a:rPr>
              <a:t>  Cost control</a:t>
            </a:r>
            <a:endParaRPr lang="en-GB" sz="1000" dirty="0"/>
          </a:p>
          <a:p>
            <a:pPr marL="0" indent="0">
              <a:lnSpc>
                <a:spcPct val="92000"/>
              </a:lnSpc>
              <a:buNone/>
            </a:pPr>
            <a:r>
              <a:rPr lang="en-GB" sz="1000" b="1" dirty="0">
                <a:solidFill>
                  <a:schemeClr val="tx1"/>
                </a:solidFill>
                <a:latin typeface="Arial" pitchFamily="34" charset="0"/>
                <a:ea typeface="Arial" pitchFamily="34" charset="-122"/>
                <a:cs typeface="Arial" pitchFamily="34" charset="-120"/>
              </a:rPr>
              <a:t>NFR-16</a:t>
            </a:r>
            <a:r>
              <a:rPr lang="en-GB" sz="1000" dirty="0">
                <a:solidFill>
                  <a:schemeClr val="tx1"/>
                </a:solidFill>
                <a:latin typeface="Arial" pitchFamily="34" charset="0"/>
                <a:ea typeface="Arial" pitchFamily="34" charset="-122"/>
                <a:cs typeface="Arial" pitchFamily="34" charset="-120"/>
              </a:rPr>
              <a:t>  Configurability</a:t>
            </a:r>
            <a:endParaRPr lang="en-GB"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1"/>
                </a:solidFill>
              </a:defRPr>
            </a:lvl1pPr>
          </a:lstStyle>
          <a:p>
            <a:pPr algn="l"/>
            <a:fld id="{F7021451-1387-4CA6-816F-3879F97B5CBC}" type="slidenum">
              <a:rPr lang="en-US" b="0"/>
              <a:t>18</a:t>
            </a:fld>
            <a:endParaRPr lang="en-US"/>
          </a:p>
        </p:txBody>
      </p:sp>
    </p:spTree>
  </p:cSld>
  <p:clrMapOvr>
    <a:masterClrMapping/>
  </p:clrMapOvr>
</p:sld>
</file>

<file path=ppt/theme/theme1.xml><?xml version="1.0" encoding="utf-8"?>
<a:theme xmlns:a="http://schemas.openxmlformats.org/drawingml/2006/main" name="NHS Hackathon">
  <a:themeElements>
    <a:clrScheme name="NHS Hackathon">
      <a:dk1>
        <a:srgbClr val="231F20"/>
      </a:dk1>
      <a:lt1>
        <a:srgbClr val="FFFFFF"/>
      </a:lt1>
      <a:dk2>
        <a:srgbClr val="003087"/>
      </a:dk2>
      <a:lt2>
        <a:srgbClr val="E8EDEE"/>
      </a:lt2>
      <a:accent1>
        <a:srgbClr val="005EB8"/>
      </a:accent1>
      <a:accent2>
        <a:srgbClr val="0072CE"/>
      </a:accent2>
      <a:accent3>
        <a:srgbClr val="41B6E6"/>
      </a:accent3>
      <a:accent4>
        <a:srgbClr val="00A499"/>
      </a:accent4>
      <a:accent5>
        <a:srgbClr val="FFB81C"/>
      </a:accent5>
      <a:accent6>
        <a:srgbClr val="DA291C"/>
      </a:accent6>
      <a:hlink>
        <a:srgbClr val="005EB8"/>
      </a:hlink>
      <a:folHlink>
        <a:srgbClr val="330072"/>
      </a:folHlink>
    </a:clrScheme>
    <a:fontScheme name="NHS Hackath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2550</Words>
  <Application>Microsoft Office PowerPoint</Application>
  <PresentationFormat>On-screen Show (16:9)</PresentationFormat>
  <Paragraphs>257</Paragraphs>
  <Slides>18</Slides>
  <Notes>18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18</vt:i4>
      </vt:variant>
    </vt:vector>
  </HeadingPairs>
  <TitlesOfParts>
    <vt:vector size="20" baseType="lpstr">
      <vt:lpstr>Arial</vt:lpstr>
      <vt:lpstr>NHS Hackathon</vt:lpstr>
      <vt:lpstr>CareNav AI</vt:lpstr>
      <vt:lpstr>Meet Marcia</vt:lpstr>
      <vt:lpstr>Why people struggle to be heard</vt:lpstr>
      <vt:lpstr>The scale of the problem</vt:lpstr>
      <vt:lpstr>Our solution</vt:lpstr>
      <vt:lpstr>How it works</vt:lpstr>
      <vt:lpstr>Demo</vt:lpstr>
      <vt:lpstr>What we’re building: five epics</vt:lpstr>
      <vt:lpstr>Safe by design</vt:lpstr>
      <vt:lpstr>Impact and what's next</vt:lpstr>
      <vt:lpstr>Our team</vt:lpstr>
      <vt:lpstr>Thank you</vt:lpstr>
      <vt:lpstr>Appendix: the five epics</vt:lpstr>
      <vt:lpstr>Prepare for my appointment</vt:lpstr>
      <vt:lpstr>Understand what I was told</vt:lpstr>
      <vt:lpstr>Language and dialect engine</vt:lpstr>
      <vt:lpstr>Safety gate</vt:lpstr>
      <vt:lpstr>Trust, access and operations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Hackathon pitch deck</dc:title>
  <dc:subject>PptxGenJS Presentation</dc:subject>
  <dc:creator>PptxGenJS</dc:creator>
  <cp:lastModifiedBy>Gyau, Tymon Kwadwo</cp:lastModifiedBy>
  <cp:revision>2</cp:revision>
  <dcterms:created xsi:type="dcterms:W3CDTF">2026-10-13T19:16:57Z</dcterms:created>
  <dcterms:modified xsi:type="dcterms:W3CDTF">2026-10-21T09:32:53Z</dcterms:modified>
</cp:coreProperties>
</file>